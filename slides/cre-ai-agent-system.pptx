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7"/>
    <p:restoredTop sz="94610"/>
  </p:normalViewPr>
  <p:slideViewPr>
    <p:cSldViewPr snapToGrid="0" snapToObjects="1">
      <p:cViewPr>
        <p:scale>
          <a:sx n="135" d="100"/>
          <a:sy n="135" d="100"/>
        </p:scale>
        <p:origin x="216" y="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895671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Deterministic spine, agentic edges. Every market figure is real and sourced; the three holdings are fictional so the relevance matching has something to match against.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is not the issue: 92% of CRE teams are piloting AI (JLL, October 2025) and 66% use it weekly or daily (First American / DealGround, May 2026). Trust is: 5% will let it inform a deal decision. Because the model is the source, every figure has to be re-derived by hand, which is exactly the labour it was bought to remove.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rows, one verdict word each. The last column is a mechanism rather than a promise: the model never computes. Python produces every figure, Gemini narrates it, and where the sources do not carry an answer the agent declines rather than inventing one. Row 3 is the only row published research also wins, which is the point: this system is built on those sources, not against them.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 calls, and the screenshot says so. The first is the one worth pausing on: the question never mentioned that The Bailey belongs to us, so the agent read the portfolio before it read the market. Step three is the architecture in one sentence. Python produced every figure in that table; the model only laid it out. The footline is the refusal, and it happened inside a correct answer rather than instead of one. If anyone challenges the 1999 date: 16 Old Bailey is a Grade II listed 1912 front block with a 1999 extension holding about 90% of the floor area, deep-retrofitted by Orms to completion in April 2021. We index the vintage that holds the area, and the roster note records that choice.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Eleven tool calls for one question, against two for The Bailey: the work scales with the question, and the panel can see it. Step three is the one to slow down on. The agent asked for Tech &amp; Media take-up, the store answered that no level is published for the half, and rather than estimate one it reported the change the source does carry, 64% above the long-run average. That is the whole trust argument in a single tool call. Step four is why the answer ends on hold at 99 City Road and Regent Quarter: it read the holdings before it decided.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2E8"/>
        </a:solidFill>
        <a:effectLst/>
      </p:bgPr>
    </p:bg>
    <p:spTree>
      <p:nvGrpSpPr>
        <p:cNvPr id="1" name=""/>
        <p:cNvGrpSpPr/>
        <p:nvPr/>
      </p:nvGrpSpPr>
      <p:grpSpPr>
        <a:xfrm>
          <a:off x="0" y="0"/>
          <a:ext cx="0" cy="0"/>
          <a:chOff x="0" y="0"/>
          <a:chExt cx="0" cy="0"/>
        </a:xfrm>
      </p:grpSpPr>
      <p:pic>
        <p:nvPicPr>
          <p:cNvPr id="2" name="Image 0" descr="/Users/ethanlee/Desktop/projects/cre_market_agent/slides/assets/title-bg-16x9.jpg"/>
          <p:cNvPicPr>
            <a:picLocks noChangeAspect="1"/>
          </p:cNvPicPr>
          <p:nvPr/>
        </p:nvPicPr>
        <p:blipFill>
          <a:blip r:embed="rId3"/>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A1420">
              <a:alpha val="78000"/>
            </a:srgbClr>
          </a:solidFill>
          <a:ln/>
        </p:spPr>
        <p:txBody>
          <a:bodyPr/>
          <a:lstStyle/>
          <a:p>
            <a:endParaRPr lang="en-US"/>
          </a:p>
        </p:txBody>
      </p:sp>
      <p:sp>
        <p:nvSpPr>
          <p:cNvPr id="4" name="Text 1"/>
          <p:cNvSpPr txBox="1"/>
          <p:nvPr/>
        </p:nvSpPr>
        <p:spPr>
          <a:xfrm>
            <a:off x="640080" y="1737360"/>
            <a:ext cx="10911535" cy="237744"/>
          </a:xfrm>
          <a:prstGeom prst="rect">
            <a:avLst/>
          </a:prstGeom>
          <a:noFill/>
          <a:ln/>
        </p:spPr>
        <p:txBody>
          <a:bodyPr wrap="square" lIns="0" tIns="0" rIns="0" bIns="0" rtlCol="0" anchor="t"/>
          <a:lstStyle/>
          <a:p>
            <a:pPr marL="0" indent="0" algn="ctr">
              <a:buNone/>
            </a:pPr>
            <a:r>
              <a:rPr lang="en-US" sz="1100" b="1" kern="0" spc="220" dirty="0">
                <a:solidFill>
                  <a:srgbClr val="E6E0D2"/>
                </a:solidFill>
                <a:latin typeface="Calibri" pitchFamily="34" charset="0"/>
                <a:ea typeface="Calibri" pitchFamily="34" charset="-122"/>
                <a:cs typeface="Calibri" pitchFamily="34" charset="-120"/>
              </a:rPr>
              <a:t>PROOF OF CONCEPT  ·  AUGUST 2026</a:t>
            </a:r>
            <a:endParaRPr lang="en-US" sz="1100" dirty="0"/>
          </a:p>
        </p:txBody>
      </p:sp>
      <p:sp>
        <p:nvSpPr>
          <p:cNvPr id="5" name="Text 2"/>
          <p:cNvSpPr txBox="1"/>
          <p:nvPr/>
        </p:nvSpPr>
        <p:spPr>
          <a:xfrm>
            <a:off x="640080" y="2267712"/>
            <a:ext cx="10911535" cy="1005840"/>
          </a:xfrm>
          <a:prstGeom prst="rect">
            <a:avLst/>
          </a:prstGeom>
          <a:noFill/>
          <a:ln/>
        </p:spPr>
        <p:txBody>
          <a:bodyPr wrap="square" lIns="0" tIns="0" rIns="0" bIns="0" rtlCol="0" anchor="t"/>
          <a:lstStyle/>
          <a:p>
            <a:pPr marL="0" indent="0" algn="ctr">
              <a:buNone/>
            </a:pPr>
            <a:r>
              <a:rPr lang="en-US" sz="4600" b="1" dirty="0">
                <a:solidFill>
                  <a:srgbClr val="F7F4EC"/>
                </a:solidFill>
                <a:latin typeface="Cambria" pitchFamily="34" charset="0"/>
                <a:ea typeface="Cambria" pitchFamily="34" charset="-122"/>
                <a:cs typeface="Cambria" pitchFamily="34" charset="-120"/>
              </a:rPr>
              <a:t>CRE AI Agent System</a:t>
            </a:r>
            <a:endParaRPr lang="en-US" sz="4600" dirty="0"/>
          </a:p>
        </p:txBody>
      </p:sp>
      <p:sp>
        <p:nvSpPr>
          <p:cNvPr id="6" name="Text 3"/>
          <p:cNvSpPr txBox="1"/>
          <p:nvPr/>
        </p:nvSpPr>
        <p:spPr>
          <a:xfrm>
            <a:off x="640080" y="3456432"/>
            <a:ext cx="10911535" cy="384048"/>
          </a:xfrm>
          <a:prstGeom prst="rect">
            <a:avLst/>
          </a:prstGeom>
          <a:noFill/>
          <a:ln/>
        </p:spPr>
        <p:txBody>
          <a:bodyPr wrap="square" lIns="0" tIns="0" rIns="0" bIns="0" rtlCol="0" anchor="t"/>
          <a:lstStyle/>
          <a:p>
            <a:pPr marL="0" indent="0" algn="ctr">
              <a:buNone/>
            </a:pPr>
            <a:r>
              <a:rPr lang="en-US" sz="1900" i="1" dirty="0">
                <a:solidFill>
                  <a:srgbClr val="E6E0D2"/>
                </a:solidFill>
                <a:latin typeface="Cambria" pitchFamily="34" charset="0"/>
                <a:ea typeface="Cambria" pitchFamily="34" charset="-122"/>
                <a:cs typeface="Cambria" pitchFamily="34" charset="-120"/>
              </a:rPr>
              <a:t>London Office Market Monitor</a:t>
            </a:r>
            <a:endParaRPr lang="en-US" sz="1900" dirty="0"/>
          </a:p>
        </p:txBody>
      </p:sp>
      <p:sp>
        <p:nvSpPr>
          <p:cNvPr id="7" name="Text 4"/>
          <p:cNvSpPr txBox="1"/>
          <p:nvPr/>
        </p:nvSpPr>
        <p:spPr>
          <a:xfrm>
            <a:off x="640080" y="4023360"/>
            <a:ext cx="10911535" cy="548640"/>
          </a:xfrm>
          <a:prstGeom prst="rect">
            <a:avLst/>
          </a:prstGeom>
          <a:noFill/>
          <a:ln/>
        </p:spPr>
        <p:txBody>
          <a:bodyPr wrap="square" lIns="0" tIns="0" rIns="0" bIns="0" rtlCol="0" anchor="t"/>
          <a:lstStyle/>
          <a:p>
            <a:pPr marL="0" indent="0" algn="ctr">
              <a:lnSpc>
                <a:spcPts val="2800"/>
              </a:lnSpc>
              <a:buNone/>
            </a:pPr>
            <a:r>
              <a:rPr lang="en-US" sz="2100" dirty="0">
                <a:solidFill>
                  <a:srgbClr val="F7F4EC"/>
                </a:solidFill>
                <a:latin typeface="Calibri" pitchFamily="34" charset="0"/>
                <a:ea typeface="Calibri" pitchFamily="34" charset="-122"/>
                <a:cs typeface="Calibri" pitchFamily="34" charset="-120"/>
              </a:rPr>
              <a:t>Reliable intelligence, empowering every decision to stay ahead of the market.</a:t>
            </a:r>
            <a:endParaRPr lang="en-US" sz="2100" dirty="0"/>
          </a:p>
        </p:txBody>
      </p:sp>
      <p:sp>
        <p:nvSpPr>
          <p:cNvPr id="8" name="Text 5"/>
          <p:cNvSpPr txBox="1"/>
          <p:nvPr/>
        </p:nvSpPr>
        <p:spPr>
          <a:xfrm>
            <a:off x="640080" y="6089904"/>
            <a:ext cx="8595360" cy="365760"/>
          </a:xfrm>
          <a:prstGeom prst="rect">
            <a:avLst/>
          </a:prstGeom>
          <a:noFill/>
          <a:ln/>
        </p:spPr>
        <p:txBody>
          <a:bodyPr wrap="square" lIns="0" tIns="0" rIns="0" bIns="0" rtlCol="0" anchor="t"/>
          <a:lstStyle/>
          <a:p>
            <a:pPr marL="0" indent="0">
              <a:lnSpc>
                <a:spcPts val="1400"/>
              </a:lnSpc>
              <a:buNone/>
            </a:pPr>
            <a:r>
              <a:rPr lang="en-US" sz="1050" dirty="0">
                <a:solidFill>
                  <a:srgbClr val="E6E0D2"/>
                </a:solidFill>
                <a:latin typeface="Calibri" pitchFamily="34" charset="0"/>
                <a:ea typeface="Calibri" pitchFamily="34" charset="-122"/>
                <a:cs typeface="Calibri" pitchFamily="34" charset="-120"/>
              </a:rPr>
              <a:t>Market figures throughout: Savills, Central London Office Market Watch Q2 2026, published 6 August 2026. Portfolio holdings are fictional and labelled as such.</a:t>
            </a:r>
            <a:endParaRPr lang="en-US" sz="1050" dirty="0"/>
          </a:p>
        </p:txBody>
      </p:sp>
      <p:sp>
        <p:nvSpPr>
          <p:cNvPr id="9" name="Text 6"/>
          <p:cNvSpPr txBox="1"/>
          <p:nvPr/>
        </p:nvSpPr>
        <p:spPr>
          <a:xfrm>
            <a:off x="8899855" y="6089904"/>
            <a:ext cx="2651760" cy="219456"/>
          </a:xfrm>
          <a:prstGeom prst="rect">
            <a:avLst/>
          </a:prstGeom>
          <a:noFill/>
          <a:ln/>
        </p:spPr>
        <p:txBody>
          <a:bodyPr wrap="square" lIns="0" tIns="0" rIns="0" bIns="0" rtlCol="0" anchor="t"/>
          <a:lstStyle/>
          <a:p>
            <a:pPr marL="0" indent="0" algn="r">
              <a:buNone/>
            </a:pPr>
            <a:r>
              <a:rPr lang="en-US" sz="1000" i="1" dirty="0">
                <a:solidFill>
                  <a:srgbClr val="E6E0D2"/>
                </a:solidFill>
                <a:latin typeface="Calibri" pitchFamily="34" charset="0"/>
                <a:ea typeface="Calibri" pitchFamily="34" charset="-122"/>
                <a:cs typeface="Calibri" pitchFamily="34" charset="-120"/>
              </a:rPr>
              <a:t>Photograph: The Guardian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2E8"/>
        </a:solidFill>
        <a:effectLst/>
      </p:bgPr>
    </p:bg>
    <p:spTree>
      <p:nvGrpSpPr>
        <p:cNvPr id="1" name=""/>
        <p:cNvGrpSpPr/>
        <p:nvPr/>
      </p:nvGrpSpPr>
      <p:grpSpPr>
        <a:xfrm>
          <a:off x="0" y="0"/>
          <a:ext cx="0" cy="0"/>
          <a:chOff x="0" y="0"/>
          <a:chExt cx="0" cy="0"/>
        </a:xfrm>
      </p:grpSpPr>
      <p:sp>
        <p:nvSpPr>
          <p:cNvPr id="2" name="Text 0"/>
          <p:cNvSpPr txBox="1"/>
          <p:nvPr/>
        </p:nvSpPr>
        <p:spPr>
          <a:xfrm>
            <a:off x="640080" y="475488"/>
            <a:ext cx="7315200" cy="237744"/>
          </a:xfrm>
          <a:prstGeom prst="rect">
            <a:avLst/>
          </a:prstGeom>
          <a:noFill/>
          <a:ln/>
        </p:spPr>
        <p:txBody>
          <a:bodyPr wrap="square" lIns="0" tIns="0" rIns="0" bIns="0" rtlCol="0" anchor="t"/>
          <a:lstStyle/>
          <a:p>
            <a:pPr marL="0" indent="0">
              <a:buNone/>
            </a:pPr>
            <a:r>
              <a:rPr lang="en-US" sz="1100" b="1" kern="0" spc="220" dirty="0">
                <a:solidFill>
                  <a:srgbClr val="5C564C"/>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841248"/>
            <a:ext cx="8138160" cy="658368"/>
          </a:xfrm>
          <a:prstGeom prst="rect">
            <a:avLst/>
          </a:prstGeom>
          <a:noFill/>
          <a:ln/>
        </p:spPr>
        <p:txBody>
          <a:bodyPr wrap="square" lIns="0" tIns="0" rIns="0" bIns="0" rtlCol="0" anchor="t"/>
          <a:lstStyle/>
          <a:p>
            <a:pPr marL="0" indent="0">
              <a:buNone/>
            </a:pPr>
            <a:r>
              <a:rPr lang="en-US" sz="3400" b="1" dirty="0">
                <a:solidFill>
                  <a:srgbClr val="141414"/>
                </a:solidFill>
                <a:latin typeface="Cambria" pitchFamily="34" charset="0"/>
                <a:ea typeface="Cambria" pitchFamily="34" charset="-122"/>
                <a:cs typeface="Cambria" pitchFamily="34" charset="-120"/>
              </a:rPr>
              <a:t>Everyone has AI. Almost nobody trusts it.</a:t>
            </a:r>
            <a:endParaRPr lang="en-US" sz="3400" dirty="0"/>
          </a:p>
        </p:txBody>
      </p:sp>
      <p:sp>
        <p:nvSpPr>
          <p:cNvPr id="4" name="Text 2"/>
          <p:cNvSpPr txBox="1"/>
          <p:nvPr/>
        </p:nvSpPr>
        <p:spPr>
          <a:xfrm>
            <a:off x="640080" y="1627632"/>
            <a:ext cx="8394192" cy="365760"/>
          </a:xfrm>
          <a:prstGeom prst="rect">
            <a:avLst/>
          </a:prstGeom>
          <a:noFill/>
          <a:ln/>
        </p:spPr>
        <p:txBody>
          <a:bodyPr wrap="square" lIns="0" tIns="0" rIns="0" bIns="0" rtlCol="0" anchor="t"/>
          <a:lstStyle/>
          <a:p>
            <a:pPr marL="0" indent="0">
              <a:lnSpc>
                <a:spcPts val="2400"/>
              </a:lnSpc>
              <a:buNone/>
            </a:pPr>
            <a:r>
              <a:rPr lang="en-US" sz="1750" dirty="0">
                <a:solidFill>
                  <a:srgbClr val="141414"/>
                </a:solidFill>
                <a:latin typeface="Calibri" pitchFamily="34" charset="0"/>
                <a:ea typeface="Calibri" pitchFamily="34" charset="-122"/>
                <a:cs typeface="Calibri" pitchFamily="34" charset="-120"/>
              </a:rPr>
              <a:t>Only </a:t>
            </a:r>
            <a:r>
              <a:rPr lang="en-US" sz="1750" b="1" dirty="0">
                <a:solidFill>
                  <a:srgbClr val="9B2C2C"/>
                </a:solidFill>
                <a:latin typeface="Calibri" pitchFamily="34" charset="0"/>
                <a:ea typeface="Calibri" pitchFamily="34" charset="-122"/>
                <a:cs typeface="Calibri" pitchFamily="34" charset="-120"/>
              </a:rPr>
              <a:t>5%</a:t>
            </a:r>
            <a:r>
              <a:rPr lang="en-US" sz="1750" dirty="0">
                <a:solidFill>
                  <a:srgbClr val="141414"/>
                </a:solidFill>
                <a:latin typeface="Calibri" pitchFamily="34" charset="0"/>
                <a:ea typeface="Calibri" pitchFamily="34" charset="-122"/>
                <a:cs typeface="Calibri" pitchFamily="34" charset="-120"/>
              </a:rPr>
              <a:t> trust it enough to inform a deal decision, and </a:t>
            </a:r>
            <a:r>
              <a:rPr lang="en-US" sz="1750" b="1" dirty="0">
                <a:solidFill>
                  <a:srgbClr val="9B2C2C"/>
                </a:solidFill>
                <a:latin typeface="Calibri" pitchFamily="34" charset="0"/>
                <a:ea typeface="Calibri" pitchFamily="34" charset="-122"/>
                <a:cs typeface="Calibri" pitchFamily="34" charset="-120"/>
              </a:rPr>
              <a:t>32%</a:t>
            </a:r>
            <a:r>
              <a:rPr lang="en-US" sz="1750" dirty="0">
                <a:solidFill>
                  <a:srgbClr val="141414"/>
                </a:solidFill>
                <a:latin typeface="Calibri" pitchFamily="34" charset="0"/>
                <a:ea typeface="Calibri" pitchFamily="34" charset="-122"/>
                <a:cs typeface="Calibri" pitchFamily="34" charset="-120"/>
              </a:rPr>
              <a:t> cite accuracy as their concern.</a:t>
            </a:r>
            <a:endParaRPr lang="en-US" sz="1750" dirty="0"/>
          </a:p>
        </p:txBody>
      </p:sp>
      <p:sp>
        <p:nvSpPr>
          <p:cNvPr id="5" name="Text 3"/>
          <p:cNvSpPr txBox="1"/>
          <p:nvPr/>
        </p:nvSpPr>
        <p:spPr>
          <a:xfrm>
            <a:off x="640080" y="2048256"/>
            <a:ext cx="8394192" cy="219456"/>
          </a:xfrm>
          <a:prstGeom prst="rect">
            <a:avLst/>
          </a:prstGeom>
          <a:noFill/>
          <a:ln/>
        </p:spPr>
        <p:txBody>
          <a:bodyPr wrap="square" lIns="0" tIns="0" rIns="0" bIns="0" rtlCol="0" anchor="t"/>
          <a:lstStyle/>
          <a:p>
            <a:pPr marL="0" indent="0">
              <a:buNone/>
            </a:pPr>
            <a:r>
              <a:rPr lang="en-US" sz="1000" i="1" dirty="0">
                <a:solidFill>
                  <a:srgbClr val="5C564C"/>
                </a:solidFill>
                <a:latin typeface="Calibri" pitchFamily="34" charset="0"/>
                <a:ea typeface="Calibri" pitchFamily="34" charset="-122"/>
                <a:cs typeface="Calibri" pitchFamily="34" charset="-120"/>
              </a:rPr>
              <a:t>First American Data &amp; Analytics / DealGround, survey of 255 CRE professionals, May 2026</a:t>
            </a:r>
            <a:endParaRPr lang="en-US" sz="1000" dirty="0"/>
          </a:p>
        </p:txBody>
      </p:sp>
      <p:sp>
        <p:nvSpPr>
          <p:cNvPr id="6" name="Shape 4"/>
          <p:cNvSpPr/>
          <p:nvPr/>
        </p:nvSpPr>
        <p:spPr>
          <a:xfrm>
            <a:off x="640080" y="2432304"/>
            <a:ext cx="7818120" cy="1243584"/>
          </a:xfrm>
          <a:prstGeom prst="rect">
            <a:avLst/>
          </a:prstGeom>
          <a:solidFill>
            <a:srgbClr val="EDE7D8"/>
          </a:solidFill>
          <a:ln/>
        </p:spPr>
        <p:txBody>
          <a:bodyPr/>
          <a:lstStyle/>
          <a:p>
            <a:endParaRPr lang="en-US"/>
          </a:p>
        </p:txBody>
      </p:sp>
      <p:sp>
        <p:nvSpPr>
          <p:cNvPr id="7" name="Text 5"/>
          <p:cNvSpPr txBox="1"/>
          <p:nvPr/>
        </p:nvSpPr>
        <p:spPr>
          <a:xfrm>
            <a:off x="950976" y="2688336"/>
            <a:ext cx="7196328" cy="731520"/>
          </a:xfrm>
          <a:prstGeom prst="rect">
            <a:avLst/>
          </a:prstGeom>
          <a:noFill/>
          <a:ln/>
        </p:spPr>
        <p:txBody>
          <a:bodyPr wrap="square" lIns="0" tIns="0" rIns="0" bIns="0" rtlCol="0" anchor="t"/>
          <a:lstStyle/>
          <a:p>
            <a:pPr marL="0" indent="0" algn="just">
              <a:lnSpc>
                <a:spcPts val="2000"/>
              </a:lnSpc>
              <a:buNone/>
            </a:pPr>
            <a:r>
              <a:rPr lang="en-US" sz="1500" dirty="0">
                <a:solidFill>
                  <a:srgbClr val="141414"/>
                </a:solidFill>
                <a:latin typeface="Calibri" pitchFamily="34" charset="0"/>
                <a:ea typeface="Calibri" pitchFamily="34" charset="-122"/>
                <a:cs typeface="Calibri" pitchFamily="34" charset="-120"/>
              </a:rPr>
              <a:t>General-purpose AI replies with whatever it retrieves from the web and whatever it was trained on. It might </a:t>
            </a:r>
            <a:r>
              <a:rPr lang="en-US" sz="1500" b="1" dirty="0">
                <a:solidFill>
                  <a:srgbClr val="9B2C2C"/>
                </a:solidFill>
                <a:latin typeface="Calibri" pitchFamily="34" charset="0"/>
                <a:ea typeface="Calibri" pitchFamily="34" charset="-122"/>
                <a:cs typeface="Calibri" pitchFamily="34" charset="-120"/>
              </a:rPr>
              <a:t>hallucinate</a:t>
            </a:r>
            <a:r>
              <a:rPr lang="en-US" sz="1500" dirty="0">
                <a:solidFill>
                  <a:srgbClr val="141414"/>
                </a:solidFill>
                <a:latin typeface="Calibri" pitchFamily="34" charset="0"/>
                <a:ea typeface="Calibri" pitchFamily="34" charset="-122"/>
                <a:cs typeface="Calibri" pitchFamily="34" charset="-120"/>
              </a:rPr>
              <a:t>: inventing a figure that does not exist, attaching a source that does not say it, or doing the arithmetic wrongly.</a:t>
            </a:r>
            <a:endParaRPr lang="en-US" sz="1500" dirty="0"/>
          </a:p>
        </p:txBody>
      </p:sp>
      <p:sp>
        <p:nvSpPr>
          <p:cNvPr id="8" name="Shape 6"/>
          <p:cNvSpPr/>
          <p:nvPr/>
        </p:nvSpPr>
        <p:spPr>
          <a:xfrm>
            <a:off x="4439412" y="3785616"/>
            <a:ext cx="219456" cy="512064"/>
          </a:xfrm>
          <a:prstGeom prst="downArrow">
            <a:avLst/>
          </a:prstGeom>
          <a:solidFill>
            <a:srgbClr val="9B2C2C"/>
          </a:solidFill>
          <a:ln/>
        </p:spPr>
        <p:txBody>
          <a:bodyPr/>
          <a:lstStyle/>
          <a:p>
            <a:endParaRPr lang="en-US"/>
          </a:p>
        </p:txBody>
      </p:sp>
      <p:sp>
        <p:nvSpPr>
          <p:cNvPr id="9" name="Shape 7"/>
          <p:cNvSpPr/>
          <p:nvPr/>
        </p:nvSpPr>
        <p:spPr>
          <a:xfrm>
            <a:off x="640080" y="4407408"/>
            <a:ext cx="7818120" cy="1024128"/>
          </a:xfrm>
          <a:prstGeom prst="rect">
            <a:avLst/>
          </a:prstGeom>
          <a:solidFill>
            <a:srgbClr val="EDE7D8"/>
          </a:solidFill>
          <a:ln/>
        </p:spPr>
        <p:txBody>
          <a:bodyPr/>
          <a:lstStyle/>
          <a:p>
            <a:pPr algn="just"/>
            <a:endParaRPr lang="en-US"/>
          </a:p>
        </p:txBody>
      </p:sp>
      <p:sp>
        <p:nvSpPr>
          <p:cNvPr id="10" name="Text 8"/>
          <p:cNvSpPr txBox="1"/>
          <p:nvPr/>
        </p:nvSpPr>
        <p:spPr>
          <a:xfrm>
            <a:off x="950976" y="4663440"/>
            <a:ext cx="7196328" cy="512064"/>
          </a:xfrm>
          <a:prstGeom prst="rect">
            <a:avLst/>
          </a:prstGeom>
          <a:noFill/>
          <a:ln/>
        </p:spPr>
        <p:txBody>
          <a:bodyPr wrap="square" lIns="0" tIns="0" rIns="0" bIns="0" rtlCol="0" anchor="t"/>
          <a:lstStyle/>
          <a:p>
            <a:pPr marL="0" indent="0">
              <a:lnSpc>
                <a:spcPts val="2000"/>
              </a:lnSpc>
              <a:buNone/>
            </a:pPr>
            <a:r>
              <a:rPr lang="en-US" sz="1500" dirty="0">
                <a:solidFill>
                  <a:srgbClr val="141414"/>
                </a:solidFill>
                <a:latin typeface="Calibri" pitchFamily="34" charset="0"/>
                <a:ea typeface="Calibri" pitchFamily="34" charset="-122"/>
                <a:cs typeface="Calibri" pitchFamily="34" charset="-120"/>
              </a:rPr>
              <a:t>So the analyst drills back down to the source anyway: the geography, blueprints, lease terms, floor plans, and the reversion maths by hand. </a:t>
            </a:r>
            <a:r>
              <a:rPr lang="en-US" sz="1500" b="1" dirty="0">
                <a:solidFill>
                  <a:srgbClr val="141414"/>
                </a:solidFill>
                <a:latin typeface="Calibri" pitchFamily="34" charset="0"/>
                <a:ea typeface="Calibri" pitchFamily="34" charset="-122"/>
                <a:cs typeface="Calibri" pitchFamily="34" charset="-120"/>
              </a:rPr>
              <a:t>The power of AI goes unused.</a:t>
            </a:r>
            <a:endParaRPr lang="en-US" sz="1500" dirty="0"/>
          </a:p>
        </p:txBody>
      </p:sp>
      <p:pic>
        <p:nvPicPr>
          <p:cNvPr id="11" name="Image 0" descr="/Users/ethanlee/Desktop/projects/cre_market_agent/slides/assets/problem-chatgpt-arithmetic.jpg"/>
          <p:cNvPicPr>
            <a:picLocks noChangeAspect="1"/>
          </p:cNvPicPr>
          <p:nvPr/>
        </p:nvPicPr>
        <p:blipFill>
          <a:blip r:embed="rId3"/>
          <a:stretch>
            <a:fillRect/>
          </a:stretch>
        </p:blipFill>
        <p:spPr>
          <a:xfrm>
            <a:off x="9034272" y="969264"/>
            <a:ext cx="2514600" cy="2761488"/>
          </a:xfrm>
          <a:prstGeom prst="rect">
            <a:avLst/>
          </a:prstGeom>
        </p:spPr>
      </p:pic>
      <p:pic>
        <p:nvPicPr>
          <p:cNvPr id="12" name="Image 1" descr="/Users/ethanlee/Desktop/projects/cre_market_agent/slides/assets/problem-claude-misalignment.png"/>
          <p:cNvPicPr>
            <a:picLocks noChangeAspect="1"/>
          </p:cNvPicPr>
          <p:nvPr/>
        </p:nvPicPr>
        <p:blipFill>
          <a:blip r:embed="rId4"/>
          <a:stretch>
            <a:fillRect/>
          </a:stretch>
        </p:blipFill>
        <p:spPr>
          <a:xfrm>
            <a:off x="9034272" y="3877056"/>
            <a:ext cx="2514600" cy="905256"/>
          </a:xfrm>
          <a:prstGeom prst="rect">
            <a:avLst/>
          </a:prstGeom>
        </p:spPr>
      </p:pic>
      <p:sp>
        <p:nvSpPr>
          <p:cNvPr id="13" name="Text 9"/>
          <p:cNvSpPr txBox="1"/>
          <p:nvPr/>
        </p:nvSpPr>
        <p:spPr>
          <a:xfrm>
            <a:off x="9034272" y="4892040"/>
            <a:ext cx="2514600" cy="457200"/>
          </a:xfrm>
          <a:prstGeom prst="rect">
            <a:avLst/>
          </a:prstGeom>
          <a:noFill/>
          <a:ln/>
        </p:spPr>
        <p:txBody>
          <a:bodyPr wrap="square" lIns="0" tIns="0" rIns="0" bIns="0" rtlCol="0" anchor="t"/>
          <a:lstStyle/>
          <a:p>
            <a:pPr marL="0" indent="0" algn="ctr">
              <a:lnSpc>
                <a:spcPts val="1350"/>
              </a:lnSpc>
              <a:buNone/>
            </a:pPr>
            <a:r>
              <a:rPr lang="en-US" sz="1050" i="1" dirty="0">
                <a:solidFill>
                  <a:srgbClr val="5C564C"/>
                </a:solidFill>
                <a:latin typeface="Calibri" pitchFamily="34" charset="0"/>
                <a:ea typeface="Calibri" pitchFamily="34" charset="-122"/>
                <a:cs typeface="Calibri" pitchFamily="34" charset="-120"/>
              </a:rPr>
              <a:t>Infamous hallucination and misalignment cases of ChatGPT &amp; Claude</a:t>
            </a:r>
            <a:endParaRPr lang="en-US" sz="1050" dirty="0"/>
          </a:p>
        </p:txBody>
      </p:sp>
      <p:sp>
        <p:nvSpPr>
          <p:cNvPr id="14" name="Shape 10"/>
          <p:cNvSpPr/>
          <p:nvPr/>
        </p:nvSpPr>
        <p:spPr>
          <a:xfrm>
            <a:off x="640080" y="5705856"/>
            <a:ext cx="10911535" cy="676656"/>
          </a:xfrm>
          <a:prstGeom prst="rect">
            <a:avLst/>
          </a:prstGeom>
          <a:solidFill>
            <a:srgbClr val="E3DAC5"/>
          </a:solidFill>
          <a:ln/>
        </p:spPr>
        <p:txBody>
          <a:bodyPr/>
          <a:lstStyle/>
          <a:p>
            <a:endParaRPr lang="en-US"/>
          </a:p>
        </p:txBody>
      </p:sp>
      <p:sp>
        <p:nvSpPr>
          <p:cNvPr id="15" name="Text 11"/>
          <p:cNvSpPr txBox="1"/>
          <p:nvPr/>
        </p:nvSpPr>
        <p:spPr>
          <a:xfrm>
            <a:off x="950976" y="5705856"/>
            <a:ext cx="10289743" cy="676656"/>
          </a:xfrm>
          <a:prstGeom prst="rect">
            <a:avLst/>
          </a:prstGeom>
          <a:noFill/>
          <a:ln/>
        </p:spPr>
        <p:txBody>
          <a:bodyPr wrap="square" lIns="0" tIns="0" rIns="0" bIns="0" rtlCol="0" anchor="ctr"/>
          <a:lstStyle/>
          <a:p>
            <a:pPr marL="0" indent="0" algn="just">
              <a:lnSpc>
                <a:spcPts val="2000"/>
              </a:lnSpc>
              <a:buNone/>
            </a:pPr>
            <a:r>
              <a:rPr lang="en-US" sz="1450" dirty="0">
                <a:solidFill>
                  <a:srgbClr val="141414"/>
                </a:solidFill>
                <a:latin typeface="Cambria" pitchFamily="34" charset="0"/>
                <a:ea typeface="Cambria" pitchFamily="34" charset="-122"/>
                <a:cs typeface="Cambria" pitchFamily="34" charset="-120"/>
              </a:rPr>
              <a:t>The solution is to bridge the trust gap by grounding AI with credible information and robust agentic tools  →  </a:t>
            </a:r>
            <a:r>
              <a:rPr lang="en-US" sz="1450" b="1" dirty="0">
                <a:solidFill>
                  <a:srgbClr val="141414"/>
                </a:solidFill>
                <a:latin typeface="Cambria" pitchFamily="34" charset="0"/>
                <a:ea typeface="Cambria" pitchFamily="34" charset="-122"/>
                <a:cs typeface="Cambria" pitchFamily="34" charset="-120"/>
              </a:rPr>
              <a:t>our CRE AI Agent System</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2E8"/>
        </a:solidFill>
        <a:effectLst/>
      </p:bgPr>
    </p:bg>
    <p:spTree>
      <p:nvGrpSpPr>
        <p:cNvPr id="1" name=""/>
        <p:cNvGrpSpPr/>
        <p:nvPr/>
      </p:nvGrpSpPr>
      <p:grpSpPr>
        <a:xfrm>
          <a:off x="0" y="0"/>
          <a:ext cx="0" cy="0"/>
          <a:chOff x="0" y="0"/>
          <a:chExt cx="0" cy="0"/>
        </a:xfrm>
      </p:grpSpPr>
      <p:sp>
        <p:nvSpPr>
          <p:cNvPr id="2" name="Text 0"/>
          <p:cNvSpPr txBox="1"/>
          <p:nvPr/>
        </p:nvSpPr>
        <p:spPr>
          <a:xfrm>
            <a:off x="640080" y="475488"/>
            <a:ext cx="7315200" cy="237744"/>
          </a:xfrm>
          <a:prstGeom prst="rect">
            <a:avLst/>
          </a:prstGeom>
          <a:noFill/>
          <a:ln/>
        </p:spPr>
        <p:txBody>
          <a:bodyPr wrap="square" lIns="0" tIns="0" rIns="0" bIns="0" rtlCol="0" anchor="t"/>
          <a:lstStyle/>
          <a:p>
            <a:pPr marL="0" indent="0">
              <a:buNone/>
            </a:pPr>
            <a:r>
              <a:rPr lang="en-US" sz="1100" b="1" kern="0" spc="220" dirty="0">
                <a:solidFill>
                  <a:srgbClr val="5C564C"/>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640080" y="841248"/>
            <a:ext cx="10911535" cy="658368"/>
          </a:xfrm>
          <a:prstGeom prst="rect">
            <a:avLst/>
          </a:prstGeom>
          <a:noFill/>
          <a:ln/>
        </p:spPr>
        <p:txBody>
          <a:bodyPr wrap="square" lIns="0" tIns="0" rIns="0" bIns="0" rtlCol="0" anchor="t"/>
          <a:lstStyle/>
          <a:p>
            <a:pPr marL="0" indent="0">
              <a:buNone/>
            </a:pPr>
            <a:r>
              <a:rPr lang="en-US" sz="3400" b="1" dirty="0">
                <a:solidFill>
                  <a:srgbClr val="141414"/>
                </a:solidFill>
                <a:latin typeface="Cambria" pitchFamily="34" charset="0"/>
                <a:ea typeface="Cambria" pitchFamily="34" charset="-122"/>
                <a:cs typeface="Cambria" pitchFamily="34" charset="-120"/>
              </a:rPr>
              <a:t>Rapid, reliable, and relevant</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137474753"/>
              </p:ext>
            </p:extLst>
          </p:nvPr>
        </p:nvGraphicFramePr>
        <p:xfrm>
          <a:off x="640080" y="1783080"/>
          <a:ext cx="10908792" cy="3913632"/>
        </p:xfrm>
        <a:graphic>
          <a:graphicData uri="http://schemas.openxmlformats.org/drawingml/2006/table">
            <a:tbl>
              <a:tblPr/>
              <a:tblGrid>
                <a:gridCol w="2615184">
                  <a:extLst>
                    <a:ext uri="{9D8B030D-6E8A-4147-A177-3AD203B41FA5}">
                      <a16:colId xmlns:a16="http://schemas.microsoft.com/office/drawing/2014/main" val="20000"/>
                    </a:ext>
                  </a:extLst>
                </a:gridCol>
                <a:gridCol w="2688336">
                  <a:extLst>
                    <a:ext uri="{9D8B030D-6E8A-4147-A177-3AD203B41FA5}">
                      <a16:colId xmlns:a16="http://schemas.microsoft.com/office/drawing/2014/main" val="20001"/>
                    </a:ext>
                  </a:extLst>
                </a:gridCol>
                <a:gridCol w="2688336">
                  <a:extLst>
                    <a:ext uri="{9D8B030D-6E8A-4147-A177-3AD203B41FA5}">
                      <a16:colId xmlns:a16="http://schemas.microsoft.com/office/drawing/2014/main" val="20002"/>
                    </a:ext>
                  </a:extLst>
                </a:gridCol>
                <a:gridCol w="2916936">
                  <a:extLst>
                    <a:ext uri="{9D8B030D-6E8A-4147-A177-3AD203B41FA5}">
                      <a16:colId xmlns:a16="http://schemas.microsoft.com/office/drawing/2014/main" val="20003"/>
                    </a:ext>
                  </a:extLst>
                </a:gridCol>
              </a:tblGrid>
              <a:tr h="621792">
                <a:tc>
                  <a:txBody>
                    <a:bodyPr/>
                    <a:lstStyle/>
                    <a:p>
                      <a:pPr marL="0" indent="0">
                        <a:buNone/>
                      </a:pP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0" cap="flat" cmpd="sng" algn="ctr">
                      <a:noFill/>
                    </a:lnT>
                    <a:lnB w="6350" cap="flat" cmpd="sng" algn="ctr">
                      <a:solidFill>
                        <a:srgbClr val="C6BDA9"/>
                      </a:solidFill>
                      <a:prstDash val="solid"/>
                      <a:round/>
                      <a:headEnd type="none" w="med" len="med"/>
                      <a:tailEnd type="none" w="med" len="med"/>
                    </a:lnB>
                    <a:solidFill>
                      <a:srgbClr val="F6F2E8"/>
                    </a:solidFill>
                  </a:tcPr>
                </a:tc>
                <a:tc>
                  <a:txBody>
                    <a:bodyPr/>
                    <a:lstStyle/>
                    <a:p>
                      <a:pPr marL="0" indent="0">
                        <a:buNone/>
                      </a:pPr>
                      <a:r>
                        <a:rPr lang="en-US" sz="1400" b="1" dirty="0">
                          <a:solidFill>
                            <a:srgbClr val="F7F4EC"/>
                          </a:solidFill>
                          <a:latin typeface="Calibri" pitchFamily="34" charset="0"/>
                          <a:ea typeface="Calibri" pitchFamily="34" charset="-122"/>
                          <a:cs typeface="Calibri" pitchFamily="34" charset="-120"/>
                        </a:rPr>
                        <a:t>Published research</a:t>
                      </a:r>
                      <a:endParaRPr lang="en-US" sz="1400" dirty="0">
                        <a:latin typeface="Calibri" charset="0"/>
                        <a:ea typeface="Calibri" charset="0"/>
                        <a:cs typeface="Calibri" charset="0"/>
                      </a:endParaRPr>
                    </a:p>
                    <a:p>
                      <a:pPr marL="0" indent="0">
                        <a:buNone/>
                      </a:pPr>
                      <a:r>
                        <a:rPr lang="en-US" sz="1000" i="1" dirty="0">
                          <a:solidFill>
                            <a:srgbClr val="BDB6A6"/>
                          </a:solidFill>
                          <a:latin typeface="Calibri" pitchFamily="34" charset="0"/>
                          <a:ea typeface="Calibri" pitchFamily="34" charset="-122"/>
                          <a:cs typeface="Calibri" pitchFamily="34" charset="-120"/>
                        </a:rPr>
                        <a:t>Savills · CBRE · CoStar</a:t>
                      </a:r>
                      <a:endParaRPr lang="en-US" sz="1400" dirty="0">
                        <a:latin typeface="Calibri" charset="0"/>
                        <a:ea typeface="Calibri" charset="0"/>
                        <a:cs typeface="Calibri" charset="0"/>
                      </a:endParaRPr>
                    </a:p>
                  </a:txBody>
                  <a:tcPr marL="101600" marR="101600" marT="101600" marB="1016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141414"/>
                    </a:solidFill>
                  </a:tcPr>
                </a:tc>
                <a:tc>
                  <a:txBody>
                    <a:bodyPr/>
                    <a:lstStyle/>
                    <a:p>
                      <a:pPr marL="0" indent="0">
                        <a:buNone/>
                      </a:pPr>
                      <a:r>
                        <a:rPr lang="en-US" sz="1400" b="1" dirty="0">
                          <a:solidFill>
                            <a:srgbClr val="F7F4EC"/>
                          </a:solidFill>
                          <a:latin typeface="Calibri" pitchFamily="34" charset="0"/>
                          <a:ea typeface="Calibri" pitchFamily="34" charset="-122"/>
                          <a:cs typeface="Calibri" pitchFamily="34" charset="-120"/>
                        </a:rPr>
                        <a:t>General-purpose AI</a:t>
                      </a:r>
                      <a:endParaRPr lang="en-US" sz="1400" dirty="0">
                        <a:latin typeface="Calibri" charset="0"/>
                        <a:ea typeface="Calibri" charset="0"/>
                        <a:cs typeface="Calibri" charset="0"/>
                      </a:endParaRPr>
                    </a:p>
                    <a:p>
                      <a:pPr marL="0" indent="0">
                        <a:buNone/>
                      </a:pPr>
                      <a:r>
                        <a:rPr lang="en-US" sz="1000" i="1" dirty="0">
                          <a:solidFill>
                            <a:srgbClr val="BDB6A6"/>
                          </a:solidFill>
                          <a:latin typeface="Calibri" pitchFamily="34" charset="0"/>
                          <a:ea typeface="Calibri" pitchFamily="34" charset="-122"/>
                          <a:cs typeface="Calibri" pitchFamily="34" charset="-120"/>
                        </a:rPr>
                        <a:t>ChatGPT · Gemini · Claude</a:t>
                      </a:r>
                      <a:endParaRPr lang="en-US" sz="1400" dirty="0">
                        <a:latin typeface="Calibri" charset="0"/>
                        <a:ea typeface="Calibri" charset="0"/>
                        <a:cs typeface="Calibri" charset="0"/>
                      </a:endParaRPr>
                    </a:p>
                  </a:txBody>
                  <a:tcPr marL="101600" marR="101600" marT="101600" marB="1016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141414"/>
                    </a:solidFill>
                  </a:tcPr>
                </a:tc>
                <a:tc>
                  <a:txBody>
                    <a:bodyPr/>
                    <a:lstStyle/>
                    <a:p>
                      <a:pPr marL="0" indent="0">
                        <a:buNone/>
                      </a:pPr>
                      <a:r>
                        <a:rPr lang="en-US" sz="1400" b="1" dirty="0">
                          <a:solidFill>
                            <a:srgbClr val="F7F4EC"/>
                          </a:solidFill>
                          <a:latin typeface="Calibri" pitchFamily="34" charset="0"/>
                          <a:ea typeface="Calibri" pitchFamily="34" charset="-122"/>
                          <a:cs typeface="Calibri" pitchFamily="34" charset="-120"/>
                        </a:rPr>
                        <a:t>This system</a:t>
                      </a:r>
                      <a:endParaRPr lang="en-US" sz="1400" dirty="0">
                        <a:latin typeface="Calibri" charset="0"/>
                        <a:ea typeface="Calibri" charset="0"/>
                        <a:cs typeface="Calibri" charset="0"/>
                      </a:endParaRPr>
                    </a:p>
                    <a:p>
                      <a:pPr marL="0" indent="0">
                        <a:buNone/>
                      </a:pPr>
                      <a:r>
                        <a:rPr lang="en-US" sz="1000" i="1" dirty="0">
                          <a:solidFill>
                            <a:srgbClr val="BDB6A6"/>
                          </a:solidFill>
                          <a:latin typeface="Calibri" pitchFamily="34" charset="0"/>
                          <a:ea typeface="Calibri" pitchFamily="34" charset="-122"/>
                          <a:cs typeface="Calibri" pitchFamily="34" charset="-120"/>
                        </a:rPr>
                        <a:t>Deterministic spine, agentic edges</a:t>
                      </a:r>
                      <a:endParaRPr lang="en-US" sz="1400" dirty="0">
                        <a:latin typeface="Calibri" charset="0"/>
                        <a:ea typeface="Calibri" charset="0"/>
                        <a:cs typeface="Calibri" charset="0"/>
                      </a:endParaRPr>
                    </a:p>
                  </a:txBody>
                  <a:tcPr marL="101600" marR="101600" marT="101600" marB="1016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141414"/>
                    </a:solidFill>
                  </a:tcPr>
                </a:tc>
                <a:extLst>
                  <a:ext uri="{0D108BD9-81ED-4DB2-BD59-A6C34878D82A}">
                    <a16:rowId xmlns:a16="http://schemas.microsoft.com/office/drawing/2014/main" val="10000"/>
                  </a:ext>
                </a:extLst>
              </a:tr>
              <a:tr h="822960">
                <a:tc>
                  <a:txBody>
                    <a:bodyPr/>
                    <a:lstStyle/>
                    <a:p>
                      <a:pPr marL="0" indent="0">
                        <a:buNone/>
                      </a:pPr>
                      <a:r>
                        <a:rPr lang="en-US" sz="1600" b="1" dirty="0">
                          <a:solidFill>
                            <a:srgbClr val="141414"/>
                          </a:solidFill>
                          <a:latin typeface="Calibri" pitchFamily="34" charset="0"/>
                          <a:ea typeface="Calibri" pitchFamily="34" charset="-122"/>
                          <a:cs typeface="Calibri" pitchFamily="34" charset="-120"/>
                        </a:rPr>
                        <a:t>Efficiency</a:t>
                      </a:r>
                      <a:endParaRPr lang="en-US" sz="16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F6F2E8"/>
                    </a:solidFill>
                  </a:tcPr>
                </a:tc>
                <a:tc>
                  <a:txBody>
                    <a:bodyPr/>
                    <a:lstStyle/>
                    <a:p>
                      <a:pPr marL="0" indent="0">
                        <a:buNone/>
                      </a:pPr>
                      <a:r>
                        <a:rPr lang="en-US" sz="1600" b="1" dirty="0">
                          <a:solidFill>
                            <a:srgbClr val="8A5E15"/>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You consolidate and analyse it yourself</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8A5E15"/>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You verify everything before you use it</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3C6444"/>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Insight from credible sources in seconds</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E3DAC5"/>
                    </a:solidFill>
                  </a:tcPr>
                </a:tc>
                <a:extLst>
                  <a:ext uri="{0D108BD9-81ED-4DB2-BD59-A6C34878D82A}">
                    <a16:rowId xmlns:a16="http://schemas.microsoft.com/office/drawing/2014/main" val="10001"/>
                  </a:ext>
                </a:extLst>
              </a:tr>
              <a:tr h="822960">
                <a:tc>
                  <a:txBody>
                    <a:bodyPr/>
                    <a:lstStyle/>
                    <a:p>
                      <a:pPr marL="0" indent="0">
                        <a:buNone/>
                      </a:pPr>
                      <a:r>
                        <a:rPr lang="en-US" sz="1600" b="1" dirty="0">
                          <a:solidFill>
                            <a:srgbClr val="141414"/>
                          </a:solidFill>
                          <a:latin typeface="Calibri" pitchFamily="34" charset="0"/>
                          <a:ea typeface="Calibri" pitchFamily="34" charset="-122"/>
                          <a:cs typeface="Calibri" pitchFamily="34" charset="-120"/>
                        </a:rPr>
                        <a:t>Know your portfolio</a:t>
                      </a:r>
                      <a:endParaRPr lang="en-US" sz="16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F6F2E8"/>
                    </a:solidFill>
                  </a:tcPr>
                </a:tc>
                <a:tc>
                  <a:txBody>
                    <a:bodyPr/>
                    <a:lstStyle/>
                    <a:p>
                      <a:pPr marL="0" indent="0">
                        <a:buNone/>
                      </a:pPr>
                      <a:r>
                        <a:rPr lang="en-US" sz="1600" b="1" dirty="0">
                          <a:solidFill>
                            <a:srgbClr val="9B2C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Market-wide data only</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9B2C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Only what you paste in</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3C6444"/>
                          </a:solidFill>
                          <a:latin typeface="Calibri" pitchFamily="34" charset="0"/>
                          <a:ea typeface="Calibri" pitchFamily="34" charset="-122"/>
                          <a:cs typeface="Calibri" pitchFamily="34" charset="-120"/>
                        </a:rPr>
                        <a:t>Yes</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Analysis matched to your holdings</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E3DAC5"/>
                    </a:solidFill>
                  </a:tcPr>
                </a:tc>
                <a:extLst>
                  <a:ext uri="{0D108BD9-81ED-4DB2-BD59-A6C34878D82A}">
                    <a16:rowId xmlns:a16="http://schemas.microsoft.com/office/drawing/2014/main" val="10002"/>
                  </a:ext>
                </a:extLst>
              </a:tr>
              <a:tr h="822960">
                <a:tc>
                  <a:txBody>
                    <a:bodyPr/>
                    <a:lstStyle/>
                    <a:p>
                      <a:pPr marL="0" indent="0">
                        <a:buNone/>
                      </a:pPr>
                      <a:r>
                        <a:rPr lang="en-US" sz="1600" b="1" dirty="0">
                          <a:solidFill>
                            <a:srgbClr val="141414"/>
                          </a:solidFill>
                          <a:latin typeface="Calibri" pitchFamily="34" charset="0"/>
                          <a:ea typeface="Calibri" pitchFamily="34" charset="-122"/>
                          <a:cs typeface="Calibri" pitchFamily="34" charset="-120"/>
                        </a:rPr>
                        <a:t>Credibility</a:t>
                      </a:r>
                      <a:endParaRPr lang="en-US" sz="16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F6F2E8"/>
                    </a:solidFill>
                  </a:tcPr>
                </a:tc>
                <a:tc>
                  <a:txBody>
                    <a:bodyPr/>
                    <a:lstStyle/>
                    <a:p>
                      <a:pPr marL="0" indent="0">
                        <a:buNone/>
                      </a:pPr>
                      <a:r>
                        <a:rPr lang="en-US" sz="1600" b="1" dirty="0">
                          <a:solidFill>
                            <a:srgbClr val="3C6444"/>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Enterprise research</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8A5E15"/>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Fragmented internet data</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3C6444"/>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Named sources: Savills, VOA, EPC register</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E3DAC5"/>
                    </a:solidFill>
                  </a:tcPr>
                </a:tc>
                <a:extLst>
                  <a:ext uri="{0D108BD9-81ED-4DB2-BD59-A6C34878D82A}">
                    <a16:rowId xmlns:a16="http://schemas.microsoft.com/office/drawing/2014/main" val="10003"/>
                  </a:ext>
                </a:extLst>
              </a:tr>
              <a:tr h="822960">
                <a:tc>
                  <a:txBody>
                    <a:bodyPr/>
                    <a:lstStyle/>
                    <a:p>
                      <a:pPr marL="0" indent="0">
                        <a:buNone/>
                      </a:pPr>
                      <a:r>
                        <a:rPr lang="en-US" sz="1600" b="1" dirty="0">
                          <a:solidFill>
                            <a:srgbClr val="141414"/>
                          </a:solidFill>
                          <a:latin typeface="Calibri" pitchFamily="34" charset="0"/>
                          <a:ea typeface="Calibri" pitchFamily="34" charset="-122"/>
                          <a:cs typeface="Calibri" pitchFamily="34" charset="-120"/>
                        </a:rPr>
                        <a:t>Strategic insight</a:t>
                      </a:r>
                      <a:endParaRPr lang="en-US" sz="16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F6F2E8"/>
                    </a:solidFill>
                  </a:tcPr>
                </a:tc>
                <a:tc>
                  <a:txBody>
                    <a:bodyPr/>
                    <a:lstStyle/>
                    <a:p>
                      <a:pPr marL="0" indent="0">
                        <a:buNone/>
                      </a:pPr>
                      <a:r>
                        <a:rPr lang="en-US" sz="1600" b="1" dirty="0">
                          <a:solidFill>
                            <a:srgbClr val="9B2C2C"/>
                          </a:solidFill>
                          <a:latin typeface="Calibri" pitchFamily="34" charset="0"/>
                          <a:ea typeface="Calibri" pitchFamily="34" charset="-122"/>
                          <a:cs typeface="Calibri" pitchFamily="34" charset="-120"/>
                        </a:rPr>
                        <a:t>No</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You do your own research</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8A5E15"/>
                          </a:solidFill>
                          <a:latin typeface="Calibri" pitchFamily="34" charset="0"/>
                          <a:ea typeface="Calibri" pitchFamily="34" charset="-122"/>
                          <a:cs typeface="Calibri" pitchFamily="34" charset="-120"/>
                        </a:rPr>
                        <a:t>Low</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Generic advice</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tcPr>
                </a:tc>
                <a:tc>
                  <a:txBody>
                    <a:bodyPr/>
                    <a:lstStyle/>
                    <a:p>
                      <a:pPr marL="0" indent="0">
                        <a:buNone/>
                      </a:pPr>
                      <a:r>
                        <a:rPr lang="en-US" sz="1600" b="1" dirty="0">
                          <a:solidFill>
                            <a:srgbClr val="3C6444"/>
                          </a:solidFill>
                          <a:latin typeface="Calibri" pitchFamily="34" charset="0"/>
                          <a:ea typeface="Calibri" pitchFamily="34" charset="-122"/>
                          <a:cs typeface="Calibri" pitchFamily="34" charset="-120"/>
                        </a:rPr>
                        <a:t>High</a:t>
                      </a:r>
                      <a:endParaRPr lang="en-US" sz="1400" dirty="0">
                        <a:latin typeface="Calibri" charset="0"/>
                        <a:ea typeface="Calibri" charset="0"/>
                        <a:cs typeface="Calibri" charset="0"/>
                      </a:endParaRPr>
                    </a:p>
                    <a:p>
                      <a:pPr marL="0" indent="0">
                        <a:buNone/>
                      </a:pPr>
                      <a:r>
                        <a:rPr lang="en-US" sz="1200" dirty="0">
                          <a:solidFill>
                            <a:srgbClr val="5C564C"/>
                          </a:solidFill>
                          <a:latin typeface="Calibri" pitchFamily="34" charset="0"/>
                          <a:ea typeface="Calibri" pitchFamily="34" charset="-122"/>
                          <a:cs typeface="Calibri" pitchFamily="34" charset="-120"/>
                        </a:rPr>
                        <a:t>Specific to the buildings you hold</a:t>
                      </a:r>
                      <a:endParaRPr lang="en-US" sz="1400" dirty="0">
                        <a:latin typeface="Calibri" charset="0"/>
                        <a:ea typeface="Calibri" charset="0"/>
                        <a:cs typeface="Calibri" charset="0"/>
                      </a:endParaRPr>
                    </a:p>
                  </a:txBody>
                  <a:tcPr marL="127000" marR="127000" marT="177800" marB="177800" anchor="ctr">
                    <a:lnL w="0" cap="flat" cmpd="sng" algn="ctr">
                      <a:noFill/>
                    </a:lnL>
                    <a:lnR w="0" cap="flat" cmpd="sng" algn="ctr">
                      <a:noFill/>
                    </a:lnR>
                    <a:lnT w="6350" cap="flat" cmpd="sng" algn="ctr">
                      <a:solidFill>
                        <a:srgbClr val="C6BDA9"/>
                      </a:solidFill>
                      <a:prstDash val="solid"/>
                      <a:round/>
                      <a:headEnd type="none" w="med" len="med"/>
                      <a:tailEnd type="none" w="med" len="med"/>
                    </a:lnT>
                    <a:lnB w="6350" cap="flat" cmpd="sng" algn="ctr">
                      <a:solidFill>
                        <a:srgbClr val="C6BDA9"/>
                      </a:solidFill>
                      <a:prstDash val="solid"/>
                      <a:round/>
                      <a:headEnd type="none" w="med" len="med"/>
                      <a:tailEnd type="none" w="med" len="med"/>
                    </a:lnB>
                    <a:solidFill>
                      <a:srgbClr val="E3DAC5"/>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2E8"/>
        </a:solidFill>
        <a:effectLst/>
      </p:bgPr>
    </p:bg>
    <p:spTree>
      <p:nvGrpSpPr>
        <p:cNvPr id="1" name=""/>
        <p:cNvGrpSpPr/>
        <p:nvPr/>
      </p:nvGrpSpPr>
      <p:grpSpPr>
        <a:xfrm>
          <a:off x="0" y="0"/>
          <a:ext cx="0" cy="0"/>
          <a:chOff x="0" y="0"/>
          <a:chExt cx="0" cy="0"/>
        </a:xfrm>
      </p:grpSpPr>
      <p:sp>
        <p:nvSpPr>
          <p:cNvPr id="2" name="Text 0"/>
          <p:cNvSpPr txBox="1"/>
          <p:nvPr/>
        </p:nvSpPr>
        <p:spPr>
          <a:xfrm>
            <a:off x="640080" y="475488"/>
            <a:ext cx="7315200" cy="237744"/>
          </a:xfrm>
          <a:prstGeom prst="rect">
            <a:avLst/>
          </a:prstGeom>
          <a:noFill/>
          <a:ln/>
        </p:spPr>
        <p:txBody>
          <a:bodyPr wrap="square" lIns="0" tIns="0" rIns="0" bIns="0" rtlCol="0" anchor="t"/>
          <a:lstStyle/>
          <a:p>
            <a:pPr marL="0" indent="0">
              <a:buNone/>
            </a:pPr>
            <a:r>
              <a:rPr lang="en-US" sz="1100" b="1" kern="0" spc="220" dirty="0">
                <a:solidFill>
                  <a:srgbClr val="5C564C"/>
                </a:solidFill>
                <a:latin typeface="Calibri" pitchFamily="34" charset="0"/>
                <a:ea typeface="Calibri" pitchFamily="34" charset="-122"/>
                <a:cs typeface="Calibri" pitchFamily="34" charset="-120"/>
              </a:rPr>
              <a:t>DEMO  ·  SUBMARKET DYNAMICS</a:t>
            </a:r>
            <a:endParaRPr lang="en-US" sz="1100" dirty="0"/>
          </a:p>
        </p:txBody>
      </p:sp>
      <p:sp>
        <p:nvSpPr>
          <p:cNvPr id="3" name="Text 1"/>
          <p:cNvSpPr txBox="1"/>
          <p:nvPr/>
        </p:nvSpPr>
        <p:spPr>
          <a:xfrm>
            <a:off x="640080" y="841248"/>
            <a:ext cx="10911535" cy="658368"/>
          </a:xfrm>
          <a:prstGeom prst="rect">
            <a:avLst/>
          </a:prstGeom>
          <a:noFill/>
          <a:ln/>
        </p:spPr>
        <p:txBody>
          <a:bodyPr wrap="square" lIns="0" tIns="0" rIns="0" bIns="0" rtlCol="0" anchor="t"/>
          <a:lstStyle/>
          <a:p>
            <a:pPr marL="0" indent="0">
              <a:buNone/>
            </a:pPr>
            <a:r>
              <a:rPr lang="en-US" sz="3200" b="1" dirty="0">
                <a:solidFill>
                  <a:srgbClr val="141414"/>
                </a:solidFill>
                <a:latin typeface="Cambria" pitchFamily="34" charset="0"/>
                <a:ea typeface="Cambria" pitchFamily="34" charset="-122"/>
                <a:cs typeface="Cambria" pitchFamily="34" charset="-120"/>
              </a:rPr>
              <a:t>Is The Bailey priced right against its peers?</a:t>
            </a:r>
            <a:endParaRPr lang="en-US" sz="3200" dirty="0"/>
          </a:p>
        </p:txBody>
      </p:sp>
      <p:pic>
        <p:nvPicPr>
          <p:cNvPr id="5" name="Image 0" descr="/Users/ethanlee/Desktop/projects/cre_market_agent/slides/assets/demo-bailey-peers.png"/>
          <p:cNvPicPr>
            <a:picLocks noChangeAspect="1"/>
          </p:cNvPicPr>
          <p:nvPr/>
        </p:nvPicPr>
        <p:blipFill>
          <a:blip r:embed="rId3"/>
          <a:stretch>
            <a:fillRect/>
          </a:stretch>
        </p:blipFill>
        <p:spPr>
          <a:xfrm>
            <a:off x="7642758" y="1453896"/>
            <a:ext cx="4250561" cy="4882896"/>
          </a:xfrm>
          <a:prstGeom prst="rect">
            <a:avLst/>
          </a:prstGeom>
        </p:spPr>
      </p:pic>
      <p:sp>
        <p:nvSpPr>
          <p:cNvPr id="6" name="Shape 3"/>
          <p:cNvSpPr/>
          <p:nvPr/>
        </p:nvSpPr>
        <p:spPr>
          <a:xfrm>
            <a:off x="640080" y="1700784"/>
            <a:ext cx="6842455" cy="667512"/>
          </a:xfrm>
          <a:prstGeom prst="rect">
            <a:avLst/>
          </a:prstGeom>
          <a:solidFill>
            <a:srgbClr val="EDE7D8"/>
          </a:solidFill>
          <a:ln/>
        </p:spPr>
        <p:txBody>
          <a:bodyPr/>
          <a:lstStyle/>
          <a:p>
            <a:endParaRPr lang="en-US"/>
          </a:p>
        </p:txBody>
      </p:sp>
      <p:sp>
        <p:nvSpPr>
          <p:cNvPr id="8" name="Text 5"/>
          <p:cNvSpPr txBox="1"/>
          <p:nvPr/>
        </p:nvSpPr>
        <p:spPr>
          <a:xfrm>
            <a:off x="868679" y="1803348"/>
            <a:ext cx="6385255" cy="464364"/>
          </a:xfrm>
          <a:prstGeom prst="rect">
            <a:avLst/>
          </a:prstGeom>
          <a:noFill/>
          <a:ln/>
        </p:spPr>
        <p:txBody>
          <a:bodyPr wrap="square" lIns="0" tIns="0" rIns="0" bIns="0" rtlCol="0" anchor="t"/>
          <a:lstStyle/>
          <a:p>
            <a:pPr marL="0" indent="0">
              <a:lnSpc>
                <a:spcPts val="1800"/>
              </a:lnSpc>
              <a:buNone/>
            </a:pPr>
            <a:r>
              <a:rPr lang="en-US" sz="1350" i="1" dirty="0">
                <a:solidFill>
                  <a:srgbClr val="141414"/>
                </a:solidFill>
                <a:latin typeface="Cambria" pitchFamily="34" charset="0"/>
                <a:ea typeface="Cambria" pitchFamily="34" charset="-122"/>
                <a:cs typeface="Cambria" pitchFamily="34" charset="-120"/>
              </a:rPr>
              <a:t>“Compare valuation of The Bailey in London with similar age buildings +- 5 year, output into a concise table.”</a:t>
            </a:r>
            <a:endParaRPr lang="en-US" sz="1350" dirty="0"/>
          </a:p>
        </p:txBody>
      </p:sp>
      <p:sp>
        <p:nvSpPr>
          <p:cNvPr id="9" name="Text 6"/>
          <p:cNvSpPr txBox="1"/>
          <p:nvPr/>
        </p:nvSpPr>
        <p:spPr>
          <a:xfrm>
            <a:off x="640080" y="2651760"/>
            <a:ext cx="6842455" cy="219456"/>
          </a:xfrm>
          <a:prstGeom prst="rect">
            <a:avLst/>
          </a:prstGeom>
          <a:noFill/>
          <a:ln/>
        </p:spPr>
        <p:txBody>
          <a:bodyPr wrap="square" lIns="0" tIns="0" rIns="0" bIns="0" rtlCol="0" anchor="t"/>
          <a:lstStyle/>
          <a:p>
            <a:pPr marL="0" indent="0">
              <a:buNone/>
            </a:pPr>
            <a:r>
              <a:rPr lang="en-US" sz="1100" b="1" kern="0" spc="160" dirty="0">
                <a:solidFill>
                  <a:srgbClr val="5C564C"/>
                </a:solidFill>
                <a:latin typeface="Calibri" pitchFamily="34" charset="0"/>
                <a:ea typeface="Calibri" pitchFamily="34" charset="-122"/>
                <a:cs typeface="Calibri" pitchFamily="34" charset="-120"/>
              </a:rPr>
              <a:t>RELIABLE PRICING ANALYSIS IN SECONDS</a:t>
            </a:r>
            <a:endParaRPr lang="en-US" sz="1100" dirty="0"/>
          </a:p>
        </p:txBody>
      </p:sp>
      <p:sp>
        <p:nvSpPr>
          <p:cNvPr id="10" name="Text 7"/>
          <p:cNvSpPr txBox="1"/>
          <p:nvPr/>
        </p:nvSpPr>
        <p:spPr>
          <a:xfrm>
            <a:off x="640080" y="2916936"/>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1</a:t>
            </a:r>
            <a:endParaRPr lang="en-US" sz="2100" dirty="0"/>
          </a:p>
        </p:txBody>
      </p:sp>
      <p:sp>
        <p:nvSpPr>
          <p:cNvPr id="11" name="Text 8"/>
          <p:cNvSpPr txBox="1"/>
          <p:nvPr/>
        </p:nvSpPr>
        <p:spPr>
          <a:xfrm>
            <a:off x="1024128" y="2962656"/>
            <a:ext cx="6458407" cy="274320"/>
          </a:xfrm>
          <a:prstGeom prst="rect">
            <a:avLst/>
          </a:prstGeom>
          <a:noFill/>
          <a:ln/>
        </p:spPr>
        <p:txBody>
          <a:bodyPr wrap="square" lIns="0" tIns="0" rIns="0" bIns="0" rtlCol="0" anchor="t"/>
          <a:lstStyle/>
          <a:p>
            <a:pPr marL="0" indent="0">
              <a:buNone/>
            </a:pPr>
            <a:r>
              <a:rPr lang="en-US" sz="1400" b="1" dirty="0">
                <a:solidFill>
                  <a:srgbClr val="141414"/>
                </a:solidFill>
                <a:latin typeface="Calibri" pitchFamily="34" charset="0"/>
                <a:ea typeface="Calibri" pitchFamily="34" charset="-122"/>
                <a:cs typeface="Calibri" pitchFamily="34" charset="-120"/>
              </a:rPr>
              <a:t>Recalled what you own.</a:t>
            </a:r>
            <a:endParaRPr lang="en-US" sz="1400" dirty="0"/>
          </a:p>
        </p:txBody>
      </p:sp>
      <p:sp>
        <p:nvSpPr>
          <p:cNvPr id="12" name="Text 9"/>
          <p:cNvSpPr txBox="1"/>
          <p:nvPr/>
        </p:nvSpPr>
        <p:spPr>
          <a:xfrm>
            <a:off x="1024128" y="3255264"/>
            <a:ext cx="6458407" cy="640080"/>
          </a:xfrm>
          <a:prstGeom prst="rect">
            <a:avLst/>
          </a:prstGeom>
          <a:noFill/>
          <a:ln/>
        </p:spPr>
        <p:txBody>
          <a:bodyPr wrap="square" lIns="0" tIns="0" rIns="0" bIns="0" rtlCol="0" anchor="t"/>
          <a:lstStyle/>
          <a:p>
            <a:pPr marL="0" indent="0" algn="just">
              <a:lnSpc>
                <a:spcPts val="1550"/>
              </a:lnSpc>
              <a:buNone/>
            </a:pPr>
            <a:r>
              <a:rPr lang="en-US" sz="1200" dirty="0">
                <a:solidFill>
                  <a:srgbClr val="141414"/>
                </a:solidFill>
                <a:latin typeface="Calibri" pitchFamily="34" charset="0"/>
                <a:ea typeface="Calibri" pitchFamily="34" charset="-122"/>
                <a:cs typeface="Calibri" pitchFamily="34" charset="-120"/>
              </a:rPr>
              <a:t>The agent opened the portfolio first, found The Bailey among your five London holdings, and took its 1999 completion and City Core address from there.</a:t>
            </a:r>
            <a:endParaRPr lang="en-US" sz="1200" dirty="0"/>
          </a:p>
        </p:txBody>
      </p:sp>
      <p:sp>
        <p:nvSpPr>
          <p:cNvPr id="14" name="Text 11"/>
          <p:cNvSpPr txBox="1"/>
          <p:nvPr/>
        </p:nvSpPr>
        <p:spPr>
          <a:xfrm>
            <a:off x="640080" y="4050792"/>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2</a:t>
            </a:r>
            <a:endParaRPr lang="en-US" sz="2100" dirty="0"/>
          </a:p>
        </p:txBody>
      </p:sp>
      <p:sp>
        <p:nvSpPr>
          <p:cNvPr id="15" name="Text 12"/>
          <p:cNvSpPr txBox="1"/>
          <p:nvPr/>
        </p:nvSpPr>
        <p:spPr>
          <a:xfrm>
            <a:off x="1024128" y="4096512"/>
            <a:ext cx="6458407" cy="274320"/>
          </a:xfrm>
          <a:prstGeom prst="rect">
            <a:avLst/>
          </a:prstGeom>
          <a:noFill/>
          <a:ln/>
        </p:spPr>
        <p:txBody>
          <a:bodyPr wrap="square" lIns="0" tIns="0" rIns="0" bIns="0" rtlCol="0" anchor="t"/>
          <a:lstStyle/>
          <a:p>
            <a:pPr marL="0" indent="0">
              <a:buNone/>
            </a:pPr>
            <a:r>
              <a:rPr lang="en-US" sz="1400" b="1" dirty="0">
                <a:solidFill>
                  <a:srgbClr val="141414"/>
                </a:solidFill>
                <a:latin typeface="Calibri" pitchFamily="34" charset="0"/>
                <a:ea typeface="Calibri" pitchFamily="34" charset="-122"/>
                <a:cs typeface="Calibri" pitchFamily="34" charset="-120"/>
              </a:rPr>
              <a:t>Picked comparable buildings, then measured the gap.</a:t>
            </a:r>
            <a:endParaRPr lang="en-US" sz="1400" dirty="0"/>
          </a:p>
        </p:txBody>
      </p:sp>
      <p:sp>
        <p:nvSpPr>
          <p:cNvPr id="16" name="Text 13"/>
          <p:cNvSpPr txBox="1"/>
          <p:nvPr/>
        </p:nvSpPr>
        <p:spPr>
          <a:xfrm>
            <a:off x="1024128" y="4389120"/>
            <a:ext cx="6458407" cy="640080"/>
          </a:xfrm>
          <a:prstGeom prst="rect">
            <a:avLst/>
          </a:prstGeom>
          <a:noFill/>
          <a:ln/>
        </p:spPr>
        <p:txBody>
          <a:bodyPr wrap="square" lIns="0" tIns="0" rIns="0" bIns="0" rtlCol="0" anchor="t"/>
          <a:lstStyle/>
          <a:p>
            <a:pPr marL="0" indent="0" algn="just">
              <a:lnSpc>
                <a:spcPts val="1550"/>
              </a:lnSpc>
              <a:buNone/>
            </a:pPr>
            <a:r>
              <a:rPr lang="en-US" sz="1200" dirty="0">
                <a:solidFill>
                  <a:srgbClr val="141414"/>
                </a:solidFill>
                <a:latin typeface="Calibri" pitchFamily="34" charset="0"/>
                <a:ea typeface="Calibri" pitchFamily="34" charset="-122"/>
                <a:cs typeface="Calibri" pitchFamily="34" charset="-120"/>
              </a:rPr>
              <a:t>It pulled every City Core building in the VOA rating list, kept the ones completed within five years of The Bailey as you asked, and computed the median and the gap.</a:t>
            </a:r>
            <a:endParaRPr lang="en-US" sz="1200" dirty="0"/>
          </a:p>
        </p:txBody>
      </p:sp>
      <p:sp>
        <p:nvSpPr>
          <p:cNvPr id="18" name="Text 15"/>
          <p:cNvSpPr txBox="1"/>
          <p:nvPr/>
        </p:nvSpPr>
        <p:spPr>
          <a:xfrm>
            <a:off x="640080" y="5184648"/>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3</a:t>
            </a:r>
            <a:endParaRPr lang="en-US" sz="2100" dirty="0"/>
          </a:p>
        </p:txBody>
      </p:sp>
      <p:sp>
        <p:nvSpPr>
          <p:cNvPr id="19" name="Text 16"/>
          <p:cNvSpPr txBox="1"/>
          <p:nvPr/>
        </p:nvSpPr>
        <p:spPr>
          <a:xfrm>
            <a:off x="1024128" y="5230368"/>
            <a:ext cx="6458407" cy="274320"/>
          </a:xfrm>
          <a:prstGeom prst="rect">
            <a:avLst/>
          </a:prstGeom>
          <a:noFill/>
          <a:ln/>
        </p:spPr>
        <p:txBody>
          <a:bodyPr wrap="square" lIns="0" tIns="0" rIns="0" bIns="0" rtlCol="0" anchor="t"/>
          <a:lstStyle/>
          <a:p>
            <a:pPr marL="0" indent="0">
              <a:buNone/>
            </a:pPr>
            <a:r>
              <a:rPr lang="en-US" sz="1400" b="1" dirty="0">
                <a:solidFill>
                  <a:srgbClr val="141414"/>
                </a:solidFill>
                <a:latin typeface="Calibri" pitchFamily="34" charset="0"/>
                <a:ea typeface="Calibri" pitchFamily="34" charset="-122"/>
                <a:cs typeface="Calibri" pitchFamily="34" charset="-120"/>
              </a:rPr>
              <a:t>Turned findings into strategy.</a:t>
            </a:r>
            <a:endParaRPr lang="en-US" sz="1400" dirty="0"/>
          </a:p>
        </p:txBody>
      </p:sp>
      <p:sp>
        <p:nvSpPr>
          <p:cNvPr id="20" name="Text 17"/>
          <p:cNvSpPr txBox="1"/>
          <p:nvPr/>
        </p:nvSpPr>
        <p:spPr>
          <a:xfrm>
            <a:off x="1024128" y="5522976"/>
            <a:ext cx="6458407" cy="640080"/>
          </a:xfrm>
          <a:prstGeom prst="rect">
            <a:avLst/>
          </a:prstGeom>
          <a:noFill/>
          <a:ln/>
        </p:spPr>
        <p:txBody>
          <a:bodyPr wrap="square" lIns="0" tIns="0" rIns="0" bIns="0" rtlCol="0" anchor="t"/>
          <a:lstStyle/>
          <a:p>
            <a:pPr algn="just"/>
            <a:r>
              <a:rPr lang="en-HK" sz="1200" dirty="0"/>
              <a:t>The Bailey sits above its peer group, which is exposure at the next rent review.</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2E8"/>
        </a:solidFill>
        <a:effectLst/>
      </p:bgPr>
    </p:bg>
    <p:spTree>
      <p:nvGrpSpPr>
        <p:cNvPr id="1" name=""/>
        <p:cNvGrpSpPr/>
        <p:nvPr/>
      </p:nvGrpSpPr>
      <p:grpSpPr>
        <a:xfrm>
          <a:off x="0" y="0"/>
          <a:ext cx="0" cy="0"/>
          <a:chOff x="0" y="0"/>
          <a:chExt cx="0" cy="0"/>
        </a:xfrm>
      </p:grpSpPr>
      <p:sp>
        <p:nvSpPr>
          <p:cNvPr id="2" name="Text 0"/>
          <p:cNvSpPr txBox="1"/>
          <p:nvPr/>
        </p:nvSpPr>
        <p:spPr>
          <a:xfrm>
            <a:off x="640080" y="475488"/>
            <a:ext cx="7315200" cy="237744"/>
          </a:xfrm>
          <a:prstGeom prst="rect">
            <a:avLst/>
          </a:prstGeom>
          <a:noFill/>
          <a:ln/>
        </p:spPr>
        <p:txBody>
          <a:bodyPr wrap="square" lIns="0" tIns="0" rIns="0" bIns="0" rtlCol="0" anchor="t"/>
          <a:lstStyle/>
          <a:p>
            <a:pPr marL="0" indent="0">
              <a:buNone/>
            </a:pPr>
            <a:r>
              <a:rPr lang="en-US" sz="1100" b="1" kern="0" spc="220" dirty="0">
                <a:solidFill>
                  <a:srgbClr val="5C564C"/>
                </a:solidFill>
                <a:latin typeface="Calibri" pitchFamily="34" charset="0"/>
                <a:ea typeface="Calibri" pitchFamily="34" charset="-122"/>
                <a:cs typeface="Calibri" pitchFamily="34" charset="-120"/>
              </a:rPr>
              <a:t>DEMO  ·  OCCUPIER DEMAND DRIVERS</a:t>
            </a:r>
            <a:endParaRPr lang="en-US" sz="1100" dirty="0"/>
          </a:p>
        </p:txBody>
      </p:sp>
      <p:sp>
        <p:nvSpPr>
          <p:cNvPr id="3" name="Text 1"/>
          <p:cNvSpPr txBox="1"/>
          <p:nvPr/>
        </p:nvSpPr>
        <p:spPr>
          <a:xfrm>
            <a:off x="640080" y="841248"/>
            <a:ext cx="10911535" cy="658368"/>
          </a:xfrm>
          <a:prstGeom prst="rect">
            <a:avLst/>
          </a:prstGeom>
          <a:noFill/>
          <a:ln/>
        </p:spPr>
        <p:txBody>
          <a:bodyPr wrap="square" lIns="0" tIns="0" rIns="0" bIns="0" rtlCol="0" anchor="t"/>
          <a:lstStyle/>
          <a:p>
            <a:pPr marL="0" indent="0">
              <a:buNone/>
            </a:pPr>
            <a:r>
              <a:rPr lang="en-US" sz="3200" b="1" dirty="0">
                <a:solidFill>
                  <a:srgbClr val="141414"/>
                </a:solidFill>
                <a:latin typeface="Cambria" pitchFamily="34" charset="0"/>
                <a:ea typeface="Cambria" pitchFamily="34" charset="-122"/>
                <a:cs typeface="Cambria" pitchFamily="34" charset="-120"/>
              </a:rPr>
              <a:t>What’s driving demand right now?</a:t>
            </a:r>
            <a:endParaRPr lang="en-US" sz="3200" dirty="0"/>
          </a:p>
        </p:txBody>
      </p:sp>
      <p:pic>
        <p:nvPicPr>
          <p:cNvPr id="5" name="Image 0" descr="/Users/ethanlee/Desktop/projects/cre_market_agent/slides/assets/demo-demand-drivers.png"/>
          <p:cNvPicPr>
            <a:picLocks noChangeAspect="1"/>
          </p:cNvPicPr>
          <p:nvPr/>
        </p:nvPicPr>
        <p:blipFill>
          <a:blip r:embed="rId3"/>
          <a:stretch>
            <a:fillRect/>
          </a:stretch>
        </p:blipFill>
        <p:spPr>
          <a:xfrm>
            <a:off x="640080" y="1554480"/>
            <a:ext cx="4892040" cy="4024052"/>
          </a:xfrm>
          <a:prstGeom prst="rect">
            <a:avLst/>
          </a:prstGeom>
        </p:spPr>
      </p:pic>
      <p:sp>
        <p:nvSpPr>
          <p:cNvPr id="6" name="Text 3"/>
          <p:cNvSpPr txBox="1"/>
          <p:nvPr/>
        </p:nvSpPr>
        <p:spPr>
          <a:xfrm>
            <a:off x="5989320" y="1435608"/>
            <a:ext cx="5562295" cy="219456"/>
          </a:xfrm>
          <a:prstGeom prst="rect">
            <a:avLst/>
          </a:prstGeom>
          <a:noFill/>
          <a:ln/>
        </p:spPr>
        <p:txBody>
          <a:bodyPr wrap="square" lIns="0" tIns="0" rIns="0" bIns="0" rtlCol="0" anchor="t"/>
          <a:lstStyle/>
          <a:p>
            <a:pPr marL="0" indent="0">
              <a:buNone/>
            </a:pPr>
            <a:r>
              <a:rPr lang="en-US" sz="1100" b="1" kern="0" spc="160" dirty="0">
                <a:solidFill>
                  <a:srgbClr val="5C564C"/>
                </a:solidFill>
                <a:latin typeface="Calibri" pitchFamily="34" charset="0"/>
                <a:cs typeface="Calibri" pitchFamily="34" charset="-120"/>
              </a:rPr>
              <a:t>RELIABLE DEMAND ANALYSIS IN SECONDS</a:t>
            </a:r>
            <a:endParaRPr lang="en-US" sz="1100" dirty="0"/>
          </a:p>
        </p:txBody>
      </p:sp>
      <p:sp>
        <p:nvSpPr>
          <p:cNvPr id="7" name="Text 4"/>
          <p:cNvSpPr txBox="1"/>
          <p:nvPr/>
        </p:nvSpPr>
        <p:spPr>
          <a:xfrm>
            <a:off x="5989320" y="1700784"/>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1</a:t>
            </a:r>
            <a:endParaRPr lang="en-US" sz="2100" dirty="0"/>
          </a:p>
        </p:txBody>
      </p:sp>
      <p:sp>
        <p:nvSpPr>
          <p:cNvPr id="8" name="Text 5"/>
          <p:cNvSpPr txBox="1"/>
          <p:nvPr/>
        </p:nvSpPr>
        <p:spPr>
          <a:xfrm>
            <a:off x="6373368" y="1746504"/>
            <a:ext cx="5178247" cy="274320"/>
          </a:xfrm>
          <a:prstGeom prst="rect">
            <a:avLst/>
          </a:prstGeom>
          <a:noFill/>
          <a:ln/>
        </p:spPr>
        <p:txBody>
          <a:bodyPr wrap="square" lIns="0" tIns="0" rIns="0" bIns="0" rtlCol="0" anchor="t"/>
          <a:lstStyle/>
          <a:p>
            <a:pPr marL="0" indent="0">
              <a:buNone/>
            </a:pPr>
            <a:r>
              <a:rPr lang="en-US" sz="1400" b="1" dirty="0">
                <a:solidFill>
                  <a:srgbClr val="141414"/>
                </a:solidFill>
                <a:latin typeface="Calibri" pitchFamily="34" charset="0"/>
                <a:ea typeface="Calibri" pitchFamily="34" charset="-122"/>
                <a:cs typeface="Calibri" pitchFamily="34" charset="-120"/>
              </a:rPr>
              <a:t>Resolved what you mean.</a:t>
            </a:r>
            <a:endParaRPr lang="en-US" sz="1400" dirty="0"/>
          </a:p>
        </p:txBody>
      </p:sp>
      <p:sp>
        <p:nvSpPr>
          <p:cNvPr id="9" name="Text 6"/>
          <p:cNvSpPr txBox="1"/>
          <p:nvPr/>
        </p:nvSpPr>
        <p:spPr>
          <a:xfrm>
            <a:off x="6373368" y="2039112"/>
            <a:ext cx="5178247" cy="640080"/>
          </a:xfrm>
          <a:prstGeom prst="rect">
            <a:avLst/>
          </a:prstGeom>
          <a:noFill/>
          <a:ln/>
        </p:spPr>
        <p:txBody>
          <a:bodyPr wrap="square" lIns="0" tIns="0" rIns="0" bIns="0" rtlCol="0" anchor="t"/>
          <a:lstStyle/>
          <a:p>
            <a:pPr algn="just"/>
            <a:r>
              <a:rPr lang="en-HK" sz="1200" dirty="0"/>
              <a:t>It checked what figures exist on database, then scoped every lookup to Central London at the latest published half.</a:t>
            </a:r>
            <a:endParaRPr lang="en-US" sz="1150" dirty="0"/>
          </a:p>
        </p:txBody>
      </p:sp>
      <p:sp>
        <p:nvSpPr>
          <p:cNvPr id="11" name="Text 8"/>
          <p:cNvSpPr txBox="1"/>
          <p:nvPr/>
        </p:nvSpPr>
        <p:spPr>
          <a:xfrm>
            <a:off x="5989320" y="2706624"/>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2</a:t>
            </a:r>
            <a:endParaRPr lang="en-US" sz="2100" dirty="0"/>
          </a:p>
        </p:txBody>
      </p:sp>
      <p:sp>
        <p:nvSpPr>
          <p:cNvPr id="12" name="Text 9"/>
          <p:cNvSpPr txBox="1"/>
          <p:nvPr/>
        </p:nvSpPr>
        <p:spPr>
          <a:xfrm>
            <a:off x="6373368" y="2752344"/>
            <a:ext cx="5178247" cy="274320"/>
          </a:xfrm>
          <a:prstGeom prst="rect">
            <a:avLst/>
          </a:prstGeom>
          <a:noFill/>
          <a:ln/>
        </p:spPr>
        <p:txBody>
          <a:bodyPr wrap="square" lIns="0" tIns="0" rIns="0" bIns="0" rtlCol="0" anchor="t"/>
          <a:lstStyle/>
          <a:p>
            <a:pPr marL="0" indent="0">
              <a:buNone/>
            </a:pPr>
            <a:r>
              <a:rPr lang="en-US" sz="1400" b="1" dirty="0">
                <a:solidFill>
                  <a:srgbClr val="141414"/>
                </a:solidFill>
                <a:latin typeface="Calibri" pitchFamily="34" charset="0"/>
                <a:ea typeface="Calibri" pitchFamily="34" charset="-122"/>
                <a:cs typeface="Calibri" pitchFamily="34" charset="-120"/>
              </a:rPr>
              <a:t>It pulled six market figures and the deals behind them.</a:t>
            </a:r>
            <a:endParaRPr lang="en-US" sz="1400" dirty="0"/>
          </a:p>
        </p:txBody>
      </p:sp>
      <p:sp>
        <p:nvSpPr>
          <p:cNvPr id="13" name="Text 10"/>
          <p:cNvSpPr txBox="1"/>
          <p:nvPr/>
        </p:nvSpPr>
        <p:spPr>
          <a:xfrm>
            <a:off x="6373368" y="3044952"/>
            <a:ext cx="5178247" cy="640080"/>
          </a:xfrm>
          <a:prstGeom prst="rect">
            <a:avLst/>
          </a:prstGeom>
          <a:noFill/>
          <a:ln/>
        </p:spPr>
        <p:txBody>
          <a:bodyPr wrap="square" lIns="0" tIns="0" rIns="0" bIns="0" rtlCol="0" anchor="t"/>
          <a:lstStyle/>
          <a:p>
            <a:pPr algn="just"/>
            <a:r>
              <a:rPr lang="en-HK" sz="1200" dirty="0"/>
              <a:t>Active demand, take-up, the share of occupiers expanding, large requirements, space under offer, one sector's take-up, and the named lettings. Each with its source and its date.</a:t>
            </a:r>
            <a:endParaRPr lang="en-US" sz="1200" dirty="0"/>
          </a:p>
        </p:txBody>
      </p:sp>
      <p:sp>
        <p:nvSpPr>
          <p:cNvPr id="15" name="Text 12"/>
          <p:cNvSpPr txBox="1"/>
          <p:nvPr/>
        </p:nvSpPr>
        <p:spPr>
          <a:xfrm>
            <a:off x="5989320" y="3712464"/>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3</a:t>
            </a:r>
            <a:endParaRPr lang="en-US" sz="2100" dirty="0"/>
          </a:p>
        </p:txBody>
      </p:sp>
      <p:sp>
        <p:nvSpPr>
          <p:cNvPr id="16" name="Text 13"/>
          <p:cNvSpPr txBox="1"/>
          <p:nvPr/>
        </p:nvSpPr>
        <p:spPr>
          <a:xfrm>
            <a:off x="6373368" y="3758184"/>
            <a:ext cx="5178247" cy="274320"/>
          </a:xfrm>
          <a:prstGeom prst="rect">
            <a:avLst/>
          </a:prstGeom>
          <a:noFill/>
          <a:ln/>
        </p:spPr>
        <p:txBody>
          <a:bodyPr wrap="square" lIns="0" tIns="0" rIns="0" bIns="0" rtlCol="0" anchor="t"/>
          <a:lstStyle/>
          <a:p>
            <a:r>
              <a:rPr lang="en-HK" sz="1400" b="1" dirty="0">
                <a:latin typeface="Calibri" panose="020F0502020204030204" pitchFamily="34" charset="0"/>
                <a:cs typeface="Calibri" panose="020F0502020204030204" pitchFamily="34" charset="0"/>
              </a:rPr>
              <a:t>Found a gap, and stayed with the source.</a:t>
            </a:r>
            <a:endParaRPr lang="en-US" sz="1400" b="1" dirty="0">
              <a:latin typeface="Calibri" panose="020F0502020204030204" pitchFamily="34" charset="0"/>
              <a:cs typeface="Calibri" panose="020F0502020204030204" pitchFamily="34" charset="0"/>
            </a:endParaRPr>
          </a:p>
        </p:txBody>
      </p:sp>
      <p:sp>
        <p:nvSpPr>
          <p:cNvPr id="17" name="Text 14"/>
          <p:cNvSpPr txBox="1"/>
          <p:nvPr/>
        </p:nvSpPr>
        <p:spPr>
          <a:xfrm>
            <a:off x="6373368" y="4050792"/>
            <a:ext cx="5178247" cy="640080"/>
          </a:xfrm>
          <a:prstGeom prst="rect">
            <a:avLst/>
          </a:prstGeom>
          <a:noFill/>
          <a:ln/>
        </p:spPr>
        <p:txBody>
          <a:bodyPr wrap="square" lIns="0" tIns="0" rIns="0" bIns="0" rtlCol="0" anchor="t"/>
          <a:lstStyle/>
          <a:p>
            <a:pPr marL="0" indent="0" algn="just">
              <a:lnSpc>
                <a:spcPts val="1550"/>
              </a:lnSpc>
              <a:buNone/>
            </a:pPr>
            <a:r>
              <a:rPr lang="en-US" sz="1200" dirty="0">
                <a:solidFill>
                  <a:srgbClr val="141414"/>
                </a:solidFill>
                <a:latin typeface="Calibri" pitchFamily="34" charset="0"/>
                <a:ea typeface="Calibri" pitchFamily="34" charset="-122"/>
                <a:cs typeface="Calibri" pitchFamily="34" charset="-120"/>
              </a:rPr>
              <a:t>Tech &amp; Media take-up is </a:t>
            </a:r>
            <a:r>
              <a:rPr lang="en-US" sz="1200" b="1" dirty="0">
                <a:solidFill>
                  <a:srgbClr val="141414"/>
                </a:solidFill>
                <a:latin typeface="Calibri" pitchFamily="34" charset="0"/>
                <a:ea typeface="Calibri" pitchFamily="34" charset="-122"/>
                <a:cs typeface="Calibri" pitchFamily="34" charset="-120"/>
              </a:rPr>
              <a:t>not published</a:t>
            </a:r>
            <a:r>
              <a:rPr lang="en-US" sz="1200" dirty="0">
                <a:solidFill>
                  <a:srgbClr val="141414"/>
                </a:solidFill>
                <a:latin typeface="Calibri" pitchFamily="34" charset="0"/>
                <a:ea typeface="Calibri" pitchFamily="34" charset="-122"/>
                <a:cs typeface="Calibri" pitchFamily="34" charset="-120"/>
              </a:rPr>
              <a:t> for this half. Instead of estimating one, it reported the change the source does give: 64% above the long-run average.</a:t>
            </a:r>
            <a:endParaRPr lang="en-US" sz="1200" dirty="0"/>
          </a:p>
        </p:txBody>
      </p:sp>
      <p:sp>
        <p:nvSpPr>
          <p:cNvPr id="19" name="Text 16"/>
          <p:cNvSpPr txBox="1"/>
          <p:nvPr/>
        </p:nvSpPr>
        <p:spPr>
          <a:xfrm>
            <a:off x="5989320" y="4718304"/>
            <a:ext cx="365760" cy="365760"/>
          </a:xfrm>
          <a:prstGeom prst="rect">
            <a:avLst/>
          </a:prstGeom>
          <a:noFill/>
          <a:ln/>
        </p:spPr>
        <p:txBody>
          <a:bodyPr wrap="square" lIns="0" tIns="0" rIns="0" bIns="0" rtlCol="0" anchor="t"/>
          <a:lstStyle/>
          <a:p>
            <a:pPr marL="0" indent="0">
              <a:buNone/>
            </a:pPr>
            <a:r>
              <a:rPr lang="en-US" sz="2100" b="1" dirty="0">
                <a:solidFill>
                  <a:srgbClr val="9B2C2C"/>
                </a:solidFill>
                <a:latin typeface="Cambria" pitchFamily="34" charset="0"/>
                <a:ea typeface="Cambria" pitchFamily="34" charset="-122"/>
                <a:cs typeface="Cambria" pitchFamily="34" charset="-120"/>
              </a:rPr>
              <a:t>4</a:t>
            </a:r>
            <a:endParaRPr lang="en-US" sz="2100" dirty="0"/>
          </a:p>
        </p:txBody>
      </p:sp>
      <p:sp>
        <p:nvSpPr>
          <p:cNvPr id="20" name="Text 17"/>
          <p:cNvSpPr txBox="1"/>
          <p:nvPr/>
        </p:nvSpPr>
        <p:spPr>
          <a:xfrm>
            <a:off x="6373368" y="4764024"/>
            <a:ext cx="5178247" cy="274320"/>
          </a:xfrm>
          <a:prstGeom prst="rect">
            <a:avLst/>
          </a:prstGeom>
          <a:noFill/>
          <a:ln/>
        </p:spPr>
        <p:txBody>
          <a:bodyPr wrap="square" lIns="0" tIns="0" rIns="0" bIns="0" rtlCol="0" anchor="t"/>
          <a:lstStyle/>
          <a:p>
            <a:r>
              <a:rPr lang="en-HK" sz="1400" b="1" dirty="0">
                <a:latin typeface="Calibri" panose="020F0502020204030204" pitchFamily="34" charset="0"/>
                <a:cs typeface="Calibri" panose="020F0502020204030204" pitchFamily="34" charset="0"/>
              </a:rPr>
              <a:t>Turned findings into strategies for your portfolio.</a:t>
            </a:r>
            <a:endParaRPr lang="en-US" sz="1400" b="1" dirty="0">
              <a:latin typeface="Calibri" panose="020F0502020204030204" pitchFamily="34" charset="0"/>
              <a:cs typeface="Calibri" panose="020F0502020204030204" pitchFamily="34" charset="0"/>
            </a:endParaRPr>
          </a:p>
        </p:txBody>
      </p:sp>
      <p:sp>
        <p:nvSpPr>
          <p:cNvPr id="21" name="Text 18"/>
          <p:cNvSpPr txBox="1"/>
          <p:nvPr/>
        </p:nvSpPr>
        <p:spPr>
          <a:xfrm>
            <a:off x="6373368" y="5056632"/>
            <a:ext cx="5178247" cy="640080"/>
          </a:xfrm>
          <a:prstGeom prst="rect">
            <a:avLst/>
          </a:prstGeom>
          <a:noFill/>
          <a:ln/>
        </p:spPr>
        <p:txBody>
          <a:bodyPr wrap="square" lIns="0" tIns="0" rIns="0" bIns="0" rtlCol="0" anchor="t"/>
          <a:lstStyle/>
          <a:p>
            <a:pPr marL="0" indent="0" algn="just">
              <a:lnSpc>
                <a:spcPts val="1550"/>
              </a:lnSpc>
              <a:buNone/>
            </a:pPr>
            <a:r>
              <a:rPr lang="en-US" sz="1200" dirty="0">
                <a:solidFill>
                  <a:srgbClr val="141414"/>
                </a:solidFill>
                <a:latin typeface="Calibri" pitchFamily="34" charset="0"/>
                <a:ea typeface="Calibri" pitchFamily="34" charset="-122"/>
                <a:cs typeface="Calibri" pitchFamily="34" charset="-120"/>
              </a:rPr>
              <a:t>The response closes on 99 City Road and Regent Quarter, and on a decision, rather than on Central London in general.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133</TotalTime>
  <Words>1081</Words>
  <Application>Microsoft Macintosh PowerPoint</Application>
  <PresentationFormat>Widescreen</PresentationFormat>
  <Paragraphs>88</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 AI Agent System</dc:title>
  <dc:subject>PptxGenJS Presentation</dc:subject>
  <dc:creator>London Office Market Monitor</dc:creator>
  <cp:lastModifiedBy>LEE, Sheung Chit Ethan</cp:lastModifiedBy>
  <cp:revision>28</cp:revision>
  <dcterms:created xsi:type="dcterms:W3CDTF">2026-08-30T04:39:16Z</dcterms:created>
  <dcterms:modified xsi:type="dcterms:W3CDTF">2026-08-30T07:02:32Z</dcterms:modified>
</cp:coreProperties>
</file>