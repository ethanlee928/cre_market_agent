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1"/>
    <p:restoredTop sz="96301"/>
  </p:normalViewPr>
  <p:slideViewPr>
    <p:cSldViewPr snapToGrid="0" snapToObjects="1">
      <p:cViewPr varScale="1">
        <p:scale>
          <a:sx n="127" d="100"/>
          <a:sy n="127" d="100"/>
        </p:scale>
        <p:origin x="4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956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thanlee/Desktop/projects/cre_market_agent/slides/assets/title-bg-16x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420">
              <a:alpha val="7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 txBox="1"/>
          <p:nvPr/>
        </p:nvSpPr>
        <p:spPr>
          <a:xfrm>
            <a:off x="640080" y="173736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spc="220" dirty="0">
                <a:solidFill>
                  <a:srgbClr val="E6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  ·  AUGUST 2026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112265"/>
            <a:ext cx="10911535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7F4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 AI Agent System</a:t>
            </a:r>
          </a:p>
          <a:p>
            <a:pPr algn="ctr"/>
            <a:r>
              <a:rPr lang="en-US" sz="2600" i="1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Proposition | The Solution | Demo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456432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E6E0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London Office Market Monitor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023359"/>
            <a:ext cx="10911535" cy="1081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intelligence, empowering every decision to stay ahead of the market.</a:t>
            </a:r>
            <a:br>
              <a:rPr lang="en-US" sz="20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Lee Sheung Chit Ethan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287441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0" i="1" kern="0" dirty="0">
                <a:solidFill>
                  <a:srgbClr val="E6E0D2"/>
                </a:solidFill>
                <a:latin typeface="Cambria" pitchFamily="34" charset="0"/>
                <a:ea typeface="Calibri" pitchFamily="34" charset="-122"/>
                <a:cs typeface="Calibri" pitchFamily="34" charset="-120"/>
              </a:rPr>
              <a:t>Do Good and Do Well, with Love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PROPOSITION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has AI. Almost nobody trusts it.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8394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75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</a:t>
            </a:r>
            <a:r>
              <a:rPr lang="en-US" sz="24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r>
              <a:rPr lang="en-US" sz="175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trust it enough to inform a deal decision, and </a:t>
            </a:r>
            <a:r>
              <a:rPr lang="en-US" sz="17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r>
              <a:rPr lang="en-US" sz="175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cite accuracy as their concern.</a:t>
            </a:r>
            <a:endParaRPr lang="en-US" sz="17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8394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5C5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American Data &amp; Analytics / DealGround, survey of 255 CRE professionals, May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9404" y="3511297"/>
            <a:ext cx="7818120" cy="1243584"/>
          </a:xfrm>
          <a:prstGeom prst="rect">
            <a:avLst/>
          </a:prstGeom>
          <a:solidFill>
            <a:srgbClr val="EDE7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10300" y="3767329"/>
            <a:ext cx="7196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2000"/>
              </a:lnSpc>
              <a:buNone/>
            </a:pPr>
            <a:r>
              <a:rPr lang="en-US" sz="15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General-purpose AI replies with whatever it retrieves from the web and whatever it was trained on. It might </a:t>
            </a:r>
            <a:r>
              <a:rPr lang="en-US" sz="15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</a:t>
            </a:r>
            <a:r>
              <a:rPr lang="en-US" sz="15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inventing a figure that does not exist, attaching a source that does not say it, or doing the arithmetic wrongly.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98736" y="4818889"/>
            <a:ext cx="212975" cy="329184"/>
          </a:xfrm>
          <a:prstGeom prst="downArrow">
            <a:avLst/>
          </a:prstGeom>
          <a:solidFill>
            <a:srgbClr val="9B2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9404" y="5212081"/>
            <a:ext cx="7818120" cy="1024128"/>
          </a:xfrm>
          <a:prstGeom prst="rect">
            <a:avLst/>
          </a:prstGeom>
          <a:solidFill>
            <a:srgbClr val="EDE7D8"/>
          </a:solidFill>
          <a:ln/>
        </p:spPr>
        <p:txBody>
          <a:bodyPr/>
          <a:lstStyle/>
          <a:p>
            <a:pPr algn="just"/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810300" y="5468113"/>
            <a:ext cx="7196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sz="1500" b="1">
                <a:solidFill>
                  <a:srgbClr val="141414"/>
                </a:solidFill>
                <a:latin typeface="Calibri"/>
              </a:rPr>
              <a:t>The power of AI goes unused</a:t>
            </a:r>
            <a:r>
              <a:rPr sz="1500" b="0">
                <a:solidFill>
                  <a:srgbClr val="141414"/>
                </a:solidFill>
                <a:latin typeface="Calibri"/>
              </a:rPr>
              <a:t>, because the analyst drills back down to the source anyway: the geography, blueprints, lease terms, floor plans, and the reversion maths by hand.</a:t>
            </a:r>
            <a:endParaRPr lang="en-US" sz="1500" dirty="0"/>
          </a:p>
        </p:txBody>
      </p:sp>
      <p:pic>
        <p:nvPicPr>
          <p:cNvPr id="11" name="Image 0" descr="/Users/ethanlee/Desktop/projects/cre_market_agent/slides/assets/problem-chatgpt-arithmeti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5167" y="1627632"/>
            <a:ext cx="2514600" cy="2761488"/>
          </a:xfrm>
          <a:prstGeom prst="rect">
            <a:avLst/>
          </a:prstGeom>
        </p:spPr>
      </p:pic>
      <p:pic>
        <p:nvPicPr>
          <p:cNvPr id="12" name="Image 1" descr="/Users/ethanlee/Desktop/projects/cre_market_agent/slides/assets/problem-claude-misalign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5167" y="4579940"/>
            <a:ext cx="2514600" cy="9052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345167" y="5724145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1050" i="1" dirty="0">
                <a:solidFill>
                  <a:srgbClr val="5C5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Infamous hallucination and misalignment cases of ChatGPT &amp; Claude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99404" y="2395728"/>
            <a:ext cx="8138160" cy="804672"/>
          </a:xfrm>
          <a:prstGeom prst="rect">
            <a:avLst/>
          </a:prstGeom>
          <a:solidFill>
            <a:srgbClr val="E3DAC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 txBox="1"/>
          <p:nvPr/>
        </p:nvSpPr>
        <p:spPr>
          <a:xfrm>
            <a:off x="810299" y="2395728"/>
            <a:ext cx="796794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00"/>
              </a:lnSpc>
              <a:buNone/>
            </a:pPr>
            <a:r>
              <a:rPr sz="1450" b="0" dirty="0">
                <a:solidFill>
                  <a:srgbClr val="141414"/>
                </a:solidFill>
                <a:latin typeface="Cambria"/>
              </a:rPr>
              <a:t>The solution: </a:t>
            </a:r>
            <a:r>
              <a:rPr sz="1700" b="1" dirty="0">
                <a:solidFill>
                  <a:srgbClr val="9B2C2C"/>
                </a:solidFill>
                <a:latin typeface="Cambria"/>
              </a:rPr>
              <a:t>bridge the trust gap</a:t>
            </a:r>
            <a:endParaRPr lang="en-US" sz="1450" dirty="0"/>
          </a:p>
          <a:p>
            <a:pPr marL="0" indent="0" algn="l">
              <a:lnSpc>
                <a:spcPts val="2000"/>
              </a:lnSpc>
              <a:buNone/>
            </a:pPr>
            <a:r>
              <a:rPr sz="1450" b="0" dirty="0">
                <a:solidFill>
                  <a:srgbClr val="141414"/>
                </a:solidFill>
                <a:latin typeface="Cambria"/>
              </a:rPr>
              <a:t>by grounding AI with credible information and robust agentic tools  →  </a:t>
            </a:r>
            <a:r>
              <a:rPr sz="1450" b="1" dirty="0">
                <a:solidFill>
                  <a:srgbClr val="141414"/>
                </a:solidFill>
                <a:latin typeface="Cambria"/>
              </a:rPr>
              <a:t>our CRE AI Agent System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600" b="1" kern="0" spc="2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Rapid, Reliable, and Relevant AI Agent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5204647"/>
              </p:ext>
            </p:extLst>
          </p:nvPr>
        </p:nvGraphicFramePr>
        <p:xfrm>
          <a:off x="640080" y="1783080"/>
          <a:ext cx="10908792" cy="3913632"/>
        </p:xfrm>
        <a:graphic>
          <a:graphicData uri="http://schemas.openxmlformats.org/drawingml/2006/table">
            <a:tbl>
              <a:tblPr/>
              <a:tblGrid>
                <a:gridCol w="2615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6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8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83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7F4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i="1" dirty="0">
                          <a:solidFill>
                            <a:srgbClr val="BDB6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spine, agentic edges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7F4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Published research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i="1" dirty="0">
                          <a:solidFill>
                            <a:srgbClr val="BDB6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Savills · CBRE · CoStar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7F4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General-purpose AI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i="1" dirty="0">
                          <a:solidFill>
                            <a:srgbClr val="BDB6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 · Gemini · Claude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Efficiency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Insight from credible sources in seconds</a:t>
                      </a:r>
                      <a:endParaRPr lang="en-US" sz="12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AC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8A5E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consolidate and analyse it yourself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8A5E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verify everything before you use 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 your portfolio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matched to your holdings</a:t>
                      </a:r>
                      <a:endParaRPr lang="en-US" sz="12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AC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Market-wide data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what you paste 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Credibility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sources: Savills, VOA, EPC register</a:t>
                      </a:r>
                      <a:endParaRPr lang="en-US" sz="12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AC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research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8A5E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Fragmented internet data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 insight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 to the buildings you hold</a:t>
                      </a:r>
                      <a:endParaRPr lang="en-US" sz="12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AC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do your own research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8A5E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advice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D688AF7-3B80-6B7D-3E9F-AF9629CFA653}"/>
              </a:ext>
            </a:extLst>
          </p:cNvPr>
          <p:cNvSpPr txBox="1"/>
          <p:nvPr/>
        </p:nvSpPr>
        <p:spPr>
          <a:xfrm>
            <a:off x="5712639" y="1906117"/>
            <a:ext cx="763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90B5A6-A072-6343-2006-790C3D2EFC09}"/>
              </a:ext>
            </a:extLst>
          </p:cNvPr>
          <p:cNvSpPr txBox="1"/>
          <p:nvPr/>
        </p:nvSpPr>
        <p:spPr>
          <a:xfrm>
            <a:off x="8530271" y="1906117"/>
            <a:ext cx="763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·  SUBMARKET DYNAMICS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Bailey priced right against its peers?</a:t>
            </a:r>
            <a:endParaRPr lang="en-US" sz="3200" dirty="0"/>
          </a:p>
        </p:txBody>
      </p:sp>
      <p:pic>
        <p:nvPicPr>
          <p:cNvPr id="5" name="Image 0" descr="/Users/ethanlee/Desktop/projects/cre_market_agent/slides/assets/demo-bailey-pe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2758" y="1453896"/>
            <a:ext cx="4250561" cy="48828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700784"/>
            <a:ext cx="6842455" cy="667512"/>
          </a:xfrm>
          <a:prstGeom prst="rect">
            <a:avLst/>
          </a:prstGeom>
          <a:solidFill>
            <a:srgbClr val="EDE7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868679" y="1803348"/>
            <a:ext cx="6385255" cy="464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“Compare valuation of The Bailey in London with similar age buildings +- 5 year, output into a concise table.”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651760"/>
            <a:ext cx="6842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5C5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PRICING ANALYSIS IN SECONDS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1024128" y="2962656"/>
            <a:ext cx="64584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Recalled what you own.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255264"/>
            <a:ext cx="64584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opened the portfolio first, found </a:t>
            </a: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Bailey among your five London holdings</a:t>
            </a: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took its 1999 completion and City Core address from there.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1024128" y="4096512"/>
            <a:ext cx="64584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Picked comparable buildings, then measured the gap.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4389120"/>
            <a:ext cx="64584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pulled every City Core building in the </a:t>
            </a: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VOA rating</a:t>
            </a: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kept the ones completed within five years of The Bailey as you asked, and computed the median and the gap.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184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1024128" y="5230368"/>
            <a:ext cx="64584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findings into strategy.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024128" y="5522976"/>
            <a:ext cx="64584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n-HK" sz="1200" dirty="0"/>
              <a:t>The Bailey sits above its peer group, which is </a:t>
            </a:r>
            <a:r>
              <a:rPr lang="en-HK" sz="1200" b="1" dirty="0"/>
              <a:t>exposure at the next rent review</a:t>
            </a:r>
            <a:r>
              <a:rPr lang="en-HK" sz="1200" dirty="0"/>
              <a:t>.</a:t>
            </a:r>
            <a:endParaRPr lang="en-US" sz="1150" dirty="0"/>
          </a:p>
        </p:txBody>
      </p:sp>
      <p:sp>
        <p:nvSpPr>
          <p:cNvPr id="31" name="Chip 31"/>
          <p:cNvSpPr/>
          <p:nvPr/>
        </p:nvSpPr>
        <p:spPr>
          <a:xfrm>
            <a:off x="2067734" y="3753612"/>
            <a:ext cx="1383625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PORTFOLIO</a:t>
            </a:r>
            <a:endParaRPr lang="en-US" sz="800" dirty="0"/>
          </a:p>
        </p:txBody>
      </p:sp>
      <p:sp>
        <p:nvSpPr>
          <p:cNvPr id="32" name="Chip 32"/>
          <p:cNvSpPr/>
          <p:nvPr/>
        </p:nvSpPr>
        <p:spPr>
          <a:xfrm>
            <a:off x="1024128" y="4937760"/>
            <a:ext cx="909582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800" dirty="0"/>
          </a:p>
        </p:txBody>
      </p:sp>
      <p:sp>
        <p:nvSpPr>
          <p:cNvPr id="33" name="Chip 33"/>
          <p:cNvSpPr/>
          <p:nvPr/>
        </p:nvSpPr>
        <p:spPr>
          <a:xfrm>
            <a:off x="1024128" y="5833872"/>
            <a:ext cx="1279655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INSIGHT</a:t>
            </a:r>
            <a:endParaRPr lang="en-US" sz="800" dirty="0"/>
          </a:p>
        </p:txBody>
      </p:sp>
      <p:sp>
        <p:nvSpPr>
          <p:cNvPr id="4" name="Chip 32">
            <a:extLst>
              <a:ext uri="{FF2B5EF4-FFF2-40B4-BE49-F238E27FC236}">
                <a16:creationId xmlns:a16="http://schemas.microsoft.com/office/drawing/2014/main" id="{08A1CF7C-41C8-2780-AA30-B74B6534241A}"/>
              </a:ext>
            </a:extLst>
          </p:cNvPr>
          <p:cNvSpPr/>
          <p:nvPr/>
        </p:nvSpPr>
        <p:spPr>
          <a:xfrm>
            <a:off x="1024128" y="3753612"/>
            <a:ext cx="909582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·  OCCUPIER </a:t>
            </a:r>
            <a:r>
              <a:rPr lang="en-US" sz="1600" b="1" kern="0" spc="2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r>
              <a:rPr lang="en-US" sz="1500" b="1" kern="0" spc="2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DRIVERS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driving demand right now?</a:t>
            </a:r>
            <a:endParaRPr lang="en-US" sz="3200" dirty="0"/>
          </a:p>
        </p:txBody>
      </p:sp>
      <p:pic>
        <p:nvPicPr>
          <p:cNvPr id="5" name="Image 0" descr="/Users/ethanlee/Desktop/projects/cre_market_agent/slides/assets/demo-demand-dri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9816" y="1563278"/>
            <a:ext cx="4892040" cy="40240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6459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5C564C"/>
                </a:solidFill>
                <a:latin typeface="Calibri" pitchFamily="34" charset="0"/>
                <a:cs typeface="Calibri" pitchFamily="34" charset="-120"/>
              </a:rPr>
              <a:t>RELIABLE DEMAND ANALYSIS IN SECONDS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11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1024128" y="1956816"/>
            <a:ext cx="5178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what you mean.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2249424"/>
            <a:ext cx="51782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n-HK" sz="1200" dirty="0"/>
              <a:t>It checked what figures exist on database, then scoped every lookup to Central London at the latest published half.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2962656"/>
            <a:ext cx="5178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 six figures, and the deals behind them.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24128" y="3255264"/>
            <a:ext cx="51782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n-HK" sz="1200" dirty="0"/>
              <a:t>Active demand, take-up, the share of occupiers expanding, large requirements, space under offer, one sector's take-up, and the named lettings. </a:t>
            </a:r>
            <a:r>
              <a:rPr lang="en-HK" sz="1200" b="1" dirty="0"/>
              <a:t>Each with its source and its date</a:t>
            </a:r>
            <a:r>
              <a:rPr lang="en-HK" sz="1200" dirty="0"/>
              <a:t>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105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4151376"/>
            <a:ext cx="5178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HK" sz="1400" b="1" dirty="0">
                <a:latin typeface="Calibri" panose="020F0502020204030204" pitchFamily="34" charset="0"/>
                <a:cs typeface="Calibri" panose="020F0502020204030204" pitchFamily="34" charset="0"/>
              </a:rPr>
              <a:t>Found a gap, and stayed with the source.</a:t>
            </a:r>
            <a:endParaRPr lang="en-US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1024128" y="4443984"/>
            <a:ext cx="51782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Media take-up is </a:t>
            </a: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published</a:t>
            </a: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this half. Instead of estimating one, it reported the change the source does give: 64% above the long-run average.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5111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1024128" y="5157216"/>
            <a:ext cx="5178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HK" sz="1400" b="1" dirty="0">
                <a:latin typeface="Calibri" panose="020F0502020204030204" pitchFamily="34" charset="0"/>
                <a:cs typeface="Calibri" panose="020F0502020204030204" pitchFamily="34" charset="0"/>
              </a:rPr>
              <a:t>Turned findings into strategy.</a:t>
            </a:r>
            <a:endParaRPr lang="en-US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 18"/>
          <p:cNvSpPr txBox="1"/>
          <p:nvPr/>
        </p:nvSpPr>
        <p:spPr>
          <a:xfrm>
            <a:off x="1024128" y="5449824"/>
            <a:ext cx="51782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 closes on 99 City Road and Regent Quarter, and on a decision, rather than on Central London in general.</a:t>
            </a:r>
            <a:endParaRPr lang="en-US" sz="1200" dirty="0"/>
          </a:p>
        </p:txBody>
      </p:sp>
      <p:sp>
        <p:nvSpPr>
          <p:cNvPr id="31" name="Chip 31"/>
          <p:cNvSpPr/>
          <p:nvPr/>
        </p:nvSpPr>
        <p:spPr>
          <a:xfrm>
            <a:off x="1024128" y="3874544"/>
            <a:ext cx="909582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800" dirty="0"/>
          </a:p>
        </p:txBody>
      </p:sp>
      <p:sp>
        <p:nvSpPr>
          <p:cNvPr id="32" name="Chip 32"/>
          <p:cNvSpPr/>
          <p:nvPr/>
        </p:nvSpPr>
        <p:spPr>
          <a:xfrm>
            <a:off x="1024128" y="4893246"/>
            <a:ext cx="909582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800" dirty="0"/>
          </a:p>
        </p:txBody>
      </p:sp>
      <p:sp>
        <p:nvSpPr>
          <p:cNvPr id="33" name="Chip 33"/>
          <p:cNvSpPr/>
          <p:nvPr/>
        </p:nvSpPr>
        <p:spPr>
          <a:xfrm>
            <a:off x="1024128" y="5934456"/>
            <a:ext cx="1383625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PORTFOLIO</a:t>
            </a:r>
            <a:endParaRPr lang="en-US" sz="800" dirty="0"/>
          </a:p>
        </p:txBody>
      </p:sp>
      <p:sp>
        <p:nvSpPr>
          <p:cNvPr id="34" name="Chip 34"/>
          <p:cNvSpPr/>
          <p:nvPr/>
        </p:nvSpPr>
        <p:spPr>
          <a:xfrm>
            <a:off x="2641745" y="5934858"/>
            <a:ext cx="1279655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INSIGHT</a:t>
            </a:r>
            <a:endParaRPr lang="en-US" sz="800" dirty="0"/>
          </a:p>
        </p:txBody>
      </p:sp>
      <p:sp>
        <p:nvSpPr>
          <p:cNvPr id="4" name="Chip 32">
            <a:extLst>
              <a:ext uri="{FF2B5EF4-FFF2-40B4-BE49-F238E27FC236}">
                <a16:creationId xmlns:a16="http://schemas.microsoft.com/office/drawing/2014/main" id="{F121D964-8AA5-73BB-E18E-9BC7C2E28F24}"/>
              </a:ext>
            </a:extLst>
          </p:cNvPr>
          <p:cNvSpPr/>
          <p:nvPr/>
        </p:nvSpPr>
        <p:spPr>
          <a:xfrm>
            <a:off x="1005840" y="2706624"/>
            <a:ext cx="909582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</a:t>
            </a:r>
            <a:endParaRPr lang="en-US" sz="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93C62-4B6D-9D41-2494-B8C7EC3A118E}"/>
              </a:ext>
            </a:extLst>
          </p:cNvPr>
          <p:cNvSpPr txBox="1"/>
          <p:nvPr/>
        </p:nvSpPr>
        <p:spPr>
          <a:xfrm>
            <a:off x="5649178" y="6437376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mbria" panose="02040503050406030204" pitchFamily="18" charset="0"/>
                <a:cs typeface="Calibri" panose="020F0502020204030204" pitchFamily="34" charset="0"/>
              </a:rPr>
              <a:t>THE 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644</Words>
  <Application>Microsoft Macintosh PowerPoint</Application>
  <PresentationFormat>Widescreen</PresentationFormat>
  <Paragraphs>96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 AI Agent System</dc:title>
  <dc:subject>PptxGenJS Presentation</dc:subject>
  <dc:creator>London Office Market Monitor</dc:creator>
  <cp:lastModifiedBy>LEE, Sheung Chit Ethan</cp:lastModifiedBy>
  <cp:revision>70</cp:revision>
  <dcterms:created xsi:type="dcterms:W3CDTF">2026-08-30T04:39:16Z</dcterms:created>
  <dcterms:modified xsi:type="dcterms:W3CDTF">2026-08-30T13:11:26Z</dcterms:modified>
</cp:coreProperties>
</file>