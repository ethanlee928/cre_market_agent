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Deterministic spine, agentic edges. Every market figure is real and sourced; the three holdings are fictional so the relevance matching has something to match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Adoption is not the issue: 92% of CRE teams are piloting AI (JLL, October 2025) and 66% use it weekly or daily (First American / DealGround, May 2026). Trust is: 5% will let it inform a deal decision. Because the model is the source, every figure has to be re-derived by hand, which is exactly the labour it was bought to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rows, and the last column is a mechanism rather than a promise: the model never computes. Python produces every figure, Gemini narrates it. If asked what was cut: reporting what changed since last quarter (ranked deltas), which the demo shows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brief, not on a prompt. The point to make out loud: the ordering is not the model's opinion, it is severity ranking in code, and it is identical on every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walkthrough on the refusal. An agent declining to invent a macro figure is a stronger close than another correct answer, because it is the only demonstration of the trust gap actually being closed.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thanlee/Desktop/projects/cre_market_agent/slides/assets/title-bg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420">
              <a:alpha val="7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73736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E6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 ·  AUGUST 2026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267712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7F4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 AI Agent System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456432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6E0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London Office Market Monitor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0233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1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intelligence, empowering every decision to stay ahead of the market.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8990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figures throughout: Savills, Central London Office Market Watch Q2 2026, published 6 August 2026. Portfolio holdings are fictional and labelled as such.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899855" y="608990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E6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Photograph: The Guardian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has AI. Almost nobody trusts 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8394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</a:t>
            </a:r>
            <a:pPr indent="0" marL="0">
              <a:lnSpc>
                <a:spcPts val="2400"/>
              </a:lnSpc>
              <a:buNone/>
            </a:pPr>
            <a:r>
              <a:rPr lang="en-US" sz="17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pPr indent="0" marL="0">
              <a:lnSpc>
                <a:spcPts val="2400"/>
              </a:lnSpc>
              <a:buNone/>
            </a:pPr>
            <a:r>
              <a:rPr lang="en-US" sz="17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trust it enough to inform a deal decision, and </a:t>
            </a:r>
            <a:pPr indent="0" marL="0">
              <a:lnSpc>
                <a:spcPts val="2400"/>
              </a:lnSpc>
              <a:buNone/>
            </a:pPr>
            <a:r>
              <a:rPr lang="en-US" sz="17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pPr indent="0" marL="0">
              <a:lnSpc>
                <a:spcPts val="2400"/>
              </a:lnSpc>
              <a:buNone/>
            </a:pPr>
            <a:r>
              <a:rPr lang="en-US" sz="17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cite accuracy as their concern.</a:t>
            </a:r>
            <a:endParaRPr lang="en-US" sz="17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8394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American Data &amp; Analytics / DealGround, survey of 255 CRE professionals, May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432304"/>
            <a:ext cx="7818120" cy="1243584"/>
          </a:xfrm>
          <a:prstGeom prst="rect">
            <a:avLst/>
          </a:prstGeom>
          <a:solidFill>
            <a:srgbClr val="EDE7D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2688336"/>
            <a:ext cx="7196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General-purpose AI replies with whatever it retrieves from the web and whatever it was trained on. It might </a:t>
            </a:r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</a:t>
            </a:r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inventing a figure that does not exist, attaching a source that does not say it, or doing the arithmetic wrongly.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39412" y="3785616"/>
            <a:ext cx="219456" cy="512064"/>
          </a:xfrm>
          <a:prstGeom prst="downArrow">
            <a:avLst/>
          </a:prstGeom>
          <a:solidFill>
            <a:srgbClr val="9B2C2C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4407408"/>
            <a:ext cx="7818120" cy="1024128"/>
          </a:xfrm>
          <a:prstGeom prst="rect">
            <a:avLst/>
          </a:prstGeom>
          <a:solidFill>
            <a:srgbClr val="EDE7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50976" y="4663440"/>
            <a:ext cx="7196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analyst drills back down to the source anyway: the geography, blueprints, lease terms, floor plans, and the reversion maths by hand. </a:t>
            </a:r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of AI goes unused.</a:t>
            </a:r>
            <a:endParaRPr lang="en-US" sz="1500" dirty="0"/>
          </a:p>
        </p:txBody>
      </p:sp>
      <p:pic>
        <p:nvPicPr>
          <p:cNvPr id="11" name="Image 0" descr="/Users/ethanlee/Desktop/projects/cre_market_agent/slides/assets/problem-chatgpt-arithmet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2" y="969264"/>
            <a:ext cx="2514600" cy="2761488"/>
          </a:xfrm>
          <a:prstGeom prst="rect">
            <a:avLst/>
          </a:prstGeom>
        </p:spPr>
      </p:pic>
      <p:pic>
        <p:nvPicPr>
          <p:cNvPr id="12" name="Image 1" descr="/Users/ethanlee/Desktop/projects/cre_market_agent/slides/assets/problem-claude-misalign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272" y="3877056"/>
            <a:ext cx="2514600" cy="9052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034272" y="4892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i="1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Infamous hallucination and misalignment cases of ChatGPT &amp; Claude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40080" y="5705856"/>
            <a:ext cx="10911535" cy="676656"/>
          </a:xfrm>
          <a:prstGeom prst="rect">
            <a:avLst/>
          </a:prstGeom>
          <a:solidFill>
            <a:srgbClr val="E3DAC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50976" y="5705856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 is to bridge the trust gap by grounding AI with credible information and robust agentic tools  →  </a:t>
            </a:r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CRE AI Agent System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Fast, sourced, and about your buildings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2688336"/>
                <a:gridCol w="2688336"/>
                <a:gridCol w="2916936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7F4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Published research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BD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Savills · CBRE · CoStar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7F4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General-purpose 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BD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 · Gemini · Claude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7F4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BD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spine, agentic edges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an answer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figure sourced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fully cited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rarely attributed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or it declines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 you can check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5E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redo it by hand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in the model’s head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in Python, same every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Knows your portfolio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market-wide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5E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what you paste 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matched to your holdings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Ends in a decision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5E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it informs 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advice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closed set of verbs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03200" marB="203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96188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5C56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Scope: Central London offices, from one quarterly release. Published research covers the whole market; this does not.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·  THE BRIEF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has already read the quarter before you type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042416" y="1773936"/>
            <a:ext cx="4443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ranked signals, waiting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2103120"/>
            <a:ext cx="4443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prompt, no blank box. Vacancy, supply, the quality spread, sector demand and lease events, all ranked by severity in Python, so the same data produces the same brief every time.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18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3255264"/>
            <a:ext cx="4443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buildings sort to the top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3584448"/>
            <a:ext cx="4443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touching a holding is promoted and opened by default. A signal may only claim a building it can name a reason for: submarket, lease window or sector.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70001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042416" y="4736592"/>
            <a:ext cx="4443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closes on a decision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042416" y="5065776"/>
            <a:ext cx="4443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matched building gets its own sentence and a verb from a fixed set: regear, refurbish, re-price, hold, defer capex, start the conversation.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89320" y="1700784"/>
            <a:ext cx="5562295" cy="4023360"/>
          </a:xfrm>
          <a:prstGeom prst="rect">
            <a:avLst/>
          </a:prstGeom>
          <a:solidFill>
            <a:srgbClr val="EDE7D8"/>
          </a:solidFill>
          <a:ln w="12700">
            <a:solidFill>
              <a:srgbClr val="C6BDA9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263640" y="3438144"/>
            <a:ext cx="5013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the opening brief, holdings filter 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14476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ranking is deterministic. Nothing on this page was written by the model; it only narrates what Python computed.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·  THE FOLLOW-UP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you interrogate it. It holds up.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00784"/>
            <a:ext cx="5349240" cy="2670048"/>
          </a:xfrm>
          <a:prstGeom prst="rect">
            <a:avLst/>
          </a:prstGeom>
          <a:solidFill>
            <a:srgbClr val="EDE7D8"/>
          </a:solidFill>
          <a:ln w="12700">
            <a:solidFill>
              <a:srgbClr val="C6BDA9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14400" y="27614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an answer with its tool calls above 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02375" y="1700784"/>
            <a:ext cx="5349240" cy="2670048"/>
          </a:xfrm>
          <a:prstGeom prst="rect">
            <a:avLst/>
          </a:prstGeom>
          <a:solidFill>
            <a:srgbClr val="EDE7D8"/>
          </a:solidFill>
          <a:ln w="12700">
            <a:solidFill>
              <a:srgbClr val="C6BDA9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476695" y="27614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the agent declining a question it cannot source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626864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ANYTHING IN SCOPE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919472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calls sit above the answer, so you can see exactly which figures were looked up. Every number arrives with its source and its as-of date attached: the same figures the brief used, from the same store.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02375" y="4626864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ASK IT SOMETHING IT CANNOT KNOW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202375" y="4919472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declines. No invented figure, no plausible-sounding estimate, no unattributed source. “I don’t have that” is a correct answer, and it is the behaviour that makes the other answers worth trusting.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14476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stated in the demo comes from a tool call, never from the model’s memory.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 AI Agent System</dc:title>
  <dc:subject>PptxGenJS Presentation</dc:subject>
  <dc:creator>London Office Market Monitor</dc:creator>
  <cp:lastModifiedBy>London Office Market Monitor</cp:lastModifiedBy>
  <cp:revision>1</cp:revision>
  <dcterms:created xsi:type="dcterms:W3CDTF">2026-08-29T16:00:27Z</dcterms:created>
  <dcterms:modified xsi:type="dcterms:W3CDTF">2026-08-29T16:00:27Z</dcterms:modified>
</cp:coreProperties>
</file>