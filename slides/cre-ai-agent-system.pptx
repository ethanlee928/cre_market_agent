
<file path=[Content_Types].xml><?xml version="1.0" encoding="utf-8"?>
<Types xmlns="http://schemas.openxmlformats.org/package/2006/content-types">
  <Default Extension="jpg" ContentType="image/jp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media/image3.jpg" ContentType="image/jpeg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7"/>
  </p:notesMasterIdLst>
  <p:sldIdLst>
    <p:sldId id="256" r:id="rId2"/>
    <p:sldId id="257" r:id="rId3"/>
    <p:sldId id="258" r:id="rId4"/>
    <p:sldId id="259" r:id="rId5"/>
    <p:sldId id="260" r:id="rId6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8511"/>
    <p:restoredTop sz="96301"/>
  </p:normalViewPr>
  <p:slideViewPr>
    <p:cSldViewPr snapToGrid="0" snapToObjects="1">
      <p:cViewPr varScale="1">
        <p:scale>
          <a:sx n="120" d="100"/>
          <a:sy n="120" d="100"/>
        </p:scale>
        <p:origin x="192" y="2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68956719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jp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6F2E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ethanlee/Desktop/projects/cre_market_agent/slides/assets/title-bg-16x9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420">
              <a:alpha val="78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1"/>
          <p:cNvSpPr txBox="1"/>
          <p:nvPr/>
        </p:nvSpPr>
        <p:spPr>
          <a:xfrm>
            <a:off x="640080" y="1737360"/>
            <a:ext cx="1091153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b="1" kern="0" spc="220" dirty="0">
                <a:solidFill>
                  <a:srgbClr val="E6E0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PROOF OF CONCEPT  ·  AUGUST 2026</a:t>
            </a:r>
            <a:endParaRPr lang="en-US" sz="1100" dirty="0"/>
          </a:p>
        </p:txBody>
      </p:sp>
      <p:sp>
        <p:nvSpPr>
          <p:cNvPr id="5" name="Text 2"/>
          <p:cNvSpPr txBox="1"/>
          <p:nvPr/>
        </p:nvSpPr>
        <p:spPr>
          <a:xfrm>
            <a:off x="640080" y="2112265"/>
            <a:ext cx="10911535" cy="11612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4600" b="1" dirty="0">
                <a:solidFill>
                  <a:srgbClr val="F7F4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CRE AI Agent System</a:t>
            </a:r>
          </a:p>
          <a:p>
            <a:pPr algn="ctr"/>
            <a:r>
              <a:rPr lang="en-US" sz="2600" i="1" dirty="0">
                <a:solidFill>
                  <a:srgbClr val="F7F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Proposition | Solution | Demo</a:t>
            </a:r>
            <a:endParaRPr lang="en-US" sz="2600" dirty="0"/>
          </a:p>
        </p:txBody>
      </p:sp>
      <p:sp>
        <p:nvSpPr>
          <p:cNvPr id="6" name="Text 3"/>
          <p:cNvSpPr txBox="1"/>
          <p:nvPr/>
        </p:nvSpPr>
        <p:spPr>
          <a:xfrm>
            <a:off x="640080" y="3456432"/>
            <a:ext cx="1091153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2000" i="1" dirty="0">
                <a:solidFill>
                  <a:srgbClr val="E6E0D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London Office Market Monitor</a:t>
            </a:r>
            <a:endParaRPr lang="en-US" sz="2000" dirty="0"/>
          </a:p>
        </p:txBody>
      </p:sp>
      <p:sp>
        <p:nvSpPr>
          <p:cNvPr id="7" name="Text 4"/>
          <p:cNvSpPr txBox="1"/>
          <p:nvPr/>
        </p:nvSpPr>
        <p:spPr>
          <a:xfrm>
            <a:off x="640080" y="4023359"/>
            <a:ext cx="10911535" cy="10812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2800"/>
              </a:lnSpc>
              <a:buNone/>
            </a:pPr>
            <a:r>
              <a:rPr lang="en-US" sz="2000" dirty="0">
                <a:solidFill>
                  <a:srgbClr val="F7F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Reliable intelligence, empowering every decision to stay ahead of the market.</a:t>
            </a:r>
            <a:br>
              <a:rPr lang="en-US" sz="2000" dirty="0">
                <a:solidFill>
                  <a:srgbClr val="F7F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</a:br>
            <a:r>
              <a:rPr lang="en-US" sz="2000" dirty="0">
                <a:solidFill>
                  <a:srgbClr val="F7F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Lee Sheung Chit Ethan</a:t>
            </a:r>
            <a:endParaRPr lang="en-US" sz="2000" dirty="0"/>
          </a:p>
        </p:txBody>
      </p:sp>
      <p:sp>
        <p:nvSpPr>
          <p:cNvPr id="10" name="Text 7"/>
          <p:cNvSpPr txBox="1"/>
          <p:nvPr/>
        </p:nvSpPr>
        <p:spPr>
          <a:xfrm>
            <a:off x="640079" y="5834977"/>
            <a:ext cx="1091153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2000" b="0" i="1" kern="0" dirty="0">
                <a:solidFill>
                  <a:srgbClr val="E6E0D2"/>
                </a:solidFill>
                <a:latin typeface="Cambria" pitchFamily="34" charset="0"/>
                <a:ea typeface="Calibri" pitchFamily="34" charset="-122"/>
                <a:cs typeface="Calibri" pitchFamily="34" charset="-120"/>
              </a:rPr>
              <a:t>Do Good and Do Well, with Love</a:t>
            </a:r>
            <a:endParaRPr lang="en-US" sz="2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6F2E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20624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b="1" kern="0" spc="200" dirty="0">
                <a:solidFill>
                  <a:srgbClr val="9B2C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PROPOSITION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0584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400" b="1" dirty="0">
                <a:solidFill>
                  <a:srgbClr val="14141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Monitoring is tedious, yet AI cannot be trusted.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429194"/>
            <a:ext cx="83941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HK" sz="1600" b="1" dirty="0"/>
              <a:t>66%</a:t>
            </a:r>
            <a:r>
              <a:rPr lang="en-HK" sz="1600" dirty="0"/>
              <a:t> of CRE professionals use AI weekly or daily; </a:t>
            </a:r>
            <a:r>
              <a:rPr lang="en-US" sz="1600" dirty="0">
                <a:solidFill>
                  <a:srgbClr val="141414"/>
                </a:solidFill>
                <a:latin typeface="Calibri" pitchFamily="34" charset="0"/>
                <a:cs typeface="Calibri" pitchFamily="34" charset="-120"/>
              </a:rPr>
              <a:t>o</a:t>
            </a:r>
            <a:r>
              <a:rPr lang="en-US" sz="1600" dirty="0">
                <a:solidFill>
                  <a:srgbClr val="1414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nly </a:t>
            </a:r>
            <a:r>
              <a:rPr lang="en-US" sz="2400" b="1" dirty="0">
                <a:solidFill>
                  <a:srgbClr val="9B2C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5%</a:t>
            </a:r>
            <a:r>
              <a:rPr lang="en-US" sz="1600" dirty="0">
                <a:solidFill>
                  <a:srgbClr val="1414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trust it enough to inform a deal.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837944"/>
            <a:ext cx="83941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i="1" dirty="0">
                <a:solidFill>
                  <a:srgbClr val="5C56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 American Data &amp; Analytics / DealGround, survey of 255 CRE professionals, May 2026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499403" y="2185416"/>
            <a:ext cx="8138159" cy="841248"/>
          </a:xfrm>
          <a:prstGeom prst="rect">
            <a:avLst/>
          </a:prstGeom>
          <a:solidFill>
            <a:srgbClr val="EDE7D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 txBox="1"/>
          <p:nvPr/>
        </p:nvSpPr>
        <p:spPr>
          <a:xfrm>
            <a:off x="810299" y="2321992"/>
            <a:ext cx="7323605" cy="6169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HK" sz="1600" b="1" dirty="0">
                <a:solidFill>
                  <a:srgbClr val="9B2C2C"/>
                </a:solidFill>
              </a:rPr>
              <a:t>Multiple</a:t>
            </a:r>
            <a:r>
              <a:rPr sz="1600" b="1" dirty="0">
                <a:solidFill>
                  <a:srgbClr val="9B2C2C"/>
                </a:solidFill>
              </a:rPr>
              <a:t> </a:t>
            </a:r>
            <a:r>
              <a:rPr lang="en-US" sz="1600" b="1" dirty="0">
                <a:solidFill>
                  <a:srgbClr val="9B2C2C"/>
                </a:solidFill>
              </a:rPr>
              <a:t>interrelated </a:t>
            </a:r>
            <a:r>
              <a:rPr sz="1600" b="1" dirty="0">
                <a:solidFill>
                  <a:srgbClr val="9B2C2C"/>
                </a:solidFill>
              </a:rPr>
              <a:t>areas to</a:t>
            </a:r>
            <a:r>
              <a:rPr lang="en-US" sz="1600" b="1" dirty="0">
                <a:solidFill>
                  <a:srgbClr val="9B2C2C"/>
                </a:solidFill>
              </a:rPr>
              <a:t> be</a:t>
            </a:r>
            <a:r>
              <a:rPr sz="1600" b="1" dirty="0">
                <a:solidFill>
                  <a:srgbClr val="9B2C2C"/>
                </a:solidFill>
              </a:rPr>
              <a:t> track</a:t>
            </a:r>
            <a:r>
              <a:rPr lang="en-US" sz="1600" b="1" dirty="0">
                <a:solidFill>
                  <a:srgbClr val="9B2C2C"/>
                </a:solidFill>
              </a:rPr>
              <a:t>ed</a:t>
            </a:r>
            <a:r>
              <a:rPr lang="en-US" sz="1600" b="1" dirty="0">
                <a:solidFill>
                  <a:srgbClr val="141414"/>
                </a:solidFill>
                <a:latin typeface="Calibri"/>
              </a:rPr>
              <a:t>, </a:t>
            </a:r>
            <a:r>
              <a:rPr lang="en-US" sz="1600" dirty="0">
                <a:solidFill>
                  <a:srgbClr val="141414"/>
                </a:solidFill>
                <a:latin typeface="Calibri"/>
              </a:rPr>
              <a:t>while the world keeps moving rapidly. </a:t>
            </a:r>
            <a:br>
              <a:rPr lang="en-US" sz="1600" dirty="0">
                <a:solidFill>
                  <a:srgbClr val="141414"/>
                </a:solidFill>
                <a:latin typeface="Calibri"/>
              </a:rPr>
            </a:br>
            <a:r>
              <a:rPr lang="en-HK" sz="1600" dirty="0">
                <a:solidFill>
                  <a:srgbClr val="141414"/>
                </a:solidFill>
                <a:latin typeface="Cambria"/>
              </a:rPr>
              <a:t>→</a:t>
            </a:r>
            <a:r>
              <a:rPr lang="en-US" sz="1600" dirty="0">
                <a:solidFill>
                  <a:srgbClr val="141414"/>
                </a:solidFill>
                <a:latin typeface="Calibri"/>
              </a:rPr>
              <a:t> </a:t>
            </a:r>
            <a:r>
              <a:rPr lang="en-HK" sz="1600" dirty="0"/>
              <a:t>Analysis by hand puts you </a:t>
            </a:r>
            <a:r>
              <a:rPr lang="en-HK" sz="1600" b="1" dirty="0"/>
              <a:t>behind the market.</a:t>
            </a:r>
            <a:endParaRPr lang="en-US" sz="1600" b="1" dirty="0"/>
          </a:p>
        </p:txBody>
      </p:sp>
      <p:sp>
        <p:nvSpPr>
          <p:cNvPr id="8" name="Shape 6"/>
          <p:cNvSpPr/>
          <p:nvPr/>
        </p:nvSpPr>
        <p:spPr>
          <a:xfrm>
            <a:off x="4229675" y="3140964"/>
            <a:ext cx="212975" cy="329184"/>
          </a:xfrm>
          <a:prstGeom prst="downArrow">
            <a:avLst/>
          </a:prstGeom>
          <a:solidFill>
            <a:srgbClr val="9B2C2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Shape 7"/>
          <p:cNvSpPr/>
          <p:nvPr/>
        </p:nvSpPr>
        <p:spPr>
          <a:xfrm>
            <a:off x="499404" y="3584448"/>
            <a:ext cx="8138158" cy="932688"/>
          </a:xfrm>
          <a:prstGeom prst="rect">
            <a:avLst/>
          </a:prstGeom>
          <a:solidFill>
            <a:srgbClr val="EDE7D8"/>
          </a:solidFill>
          <a:ln/>
        </p:spPr>
        <p:txBody>
          <a:bodyPr/>
          <a:lstStyle/>
          <a:p>
            <a:pPr algn="just"/>
            <a:endParaRPr lang="en-US"/>
          </a:p>
        </p:txBody>
      </p:sp>
      <p:sp>
        <p:nvSpPr>
          <p:cNvPr id="10" name="Text 8"/>
          <p:cNvSpPr txBox="1"/>
          <p:nvPr/>
        </p:nvSpPr>
        <p:spPr>
          <a:xfrm>
            <a:off x="810298" y="3744787"/>
            <a:ext cx="7323607" cy="566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ts val="2000"/>
              </a:lnSpc>
            </a:pPr>
            <a:r>
              <a:rPr sz="1600" b="0" dirty="0">
                <a:solidFill>
                  <a:srgbClr val="141414"/>
                </a:solidFill>
                <a:latin typeface="Calibri"/>
              </a:rPr>
              <a:t>General-purpose</a:t>
            </a:r>
            <a:r>
              <a:rPr lang="en-US" sz="1600" b="0" dirty="0">
                <a:solidFill>
                  <a:srgbClr val="141414"/>
                </a:solidFill>
                <a:latin typeface="Calibri"/>
              </a:rPr>
              <a:t> AI</a:t>
            </a:r>
            <a:r>
              <a:rPr sz="1600" b="0" dirty="0">
                <a:solidFill>
                  <a:srgbClr val="141414"/>
                </a:solidFill>
                <a:latin typeface="Calibri"/>
              </a:rPr>
              <a:t> might </a:t>
            </a:r>
            <a:r>
              <a:rPr sz="1600" b="1" dirty="0">
                <a:solidFill>
                  <a:srgbClr val="9B2C2C"/>
                </a:solidFill>
                <a:latin typeface="Calibri"/>
              </a:rPr>
              <a:t>hallucinate</a:t>
            </a:r>
            <a:r>
              <a:rPr sz="1600" b="0" dirty="0">
                <a:solidFill>
                  <a:srgbClr val="141414"/>
                </a:solidFill>
                <a:latin typeface="Calibri"/>
              </a:rPr>
              <a:t>: inventing a figure, getting the arithmetic wrong. </a:t>
            </a:r>
            <a:br>
              <a:rPr lang="en-US" sz="1600" b="0" dirty="0">
                <a:solidFill>
                  <a:srgbClr val="141414"/>
                </a:solidFill>
                <a:latin typeface="Calibri"/>
              </a:rPr>
            </a:br>
            <a:r>
              <a:rPr lang="en-HK" sz="1600" dirty="0">
                <a:solidFill>
                  <a:srgbClr val="141414"/>
                </a:solidFill>
                <a:latin typeface="Cambria"/>
              </a:rPr>
              <a:t>→</a:t>
            </a:r>
            <a:r>
              <a:rPr sz="1600" b="1" dirty="0">
                <a:solidFill>
                  <a:srgbClr val="141414"/>
                </a:solidFill>
                <a:latin typeface="Calibri"/>
              </a:rPr>
              <a:t> </a:t>
            </a:r>
            <a:r>
              <a:rPr lang="en-US" sz="1600" b="1" dirty="0">
                <a:solidFill>
                  <a:srgbClr val="141414"/>
                </a:solidFill>
                <a:latin typeface="Calibri"/>
              </a:rPr>
              <a:t>T</a:t>
            </a:r>
            <a:r>
              <a:rPr sz="1600" b="1" dirty="0">
                <a:solidFill>
                  <a:srgbClr val="141414"/>
                </a:solidFill>
                <a:latin typeface="Calibri"/>
              </a:rPr>
              <a:t>he power of AI goes unused</a:t>
            </a:r>
            <a:r>
              <a:rPr sz="1600" b="0" dirty="0">
                <a:solidFill>
                  <a:srgbClr val="141414"/>
                </a:solidFill>
                <a:latin typeface="Calibri"/>
              </a:rPr>
              <a:t>: the analyst redoes the work by hand.</a:t>
            </a:r>
            <a:endParaRPr lang="en-US" sz="1600" dirty="0"/>
          </a:p>
        </p:txBody>
      </p:sp>
      <p:pic>
        <p:nvPicPr>
          <p:cNvPr id="11" name="Image 0" descr="/Users/ethanlee/Desktop/projects/cre_market_agent/slides/assets/problem-chatgpt-arithmetic.jpg"/>
          <p:cNvPicPr>
            <a:picLocks noChangeAspect="1"/>
          </p:cNvPicPr>
          <p:nvPr/>
        </p:nvPicPr>
        <p:blipFill>
          <a:blip r:embed="rId3"/>
          <a:srcRect l="1" r="325" b="43544"/>
          <a:stretch>
            <a:fillRect/>
          </a:stretch>
        </p:blipFill>
        <p:spPr>
          <a:xfrm>
            <a:off x="9372012" y="3584448"/>
            <a:ext cx="2185955" cy="1359692"/>
          </a:xfrm>
          <a:prstGeom prst="rect">
            <a:avLst/>
          </a:prstGeom>
        </p:spPr>
      </p:pic>
      <p:sp>
        <p:nvSpPr>
          <p:cNvPr id="14" name="Shape 10"/>
          <p:cNvSpPr/>
          <p:nvPr/>
        </p:nvSpPr>
        <p:spPr>
          <a:xfrm>
            <a:off x="499403" y="5074920"/>
            <a:ext cx="8138160" cy="1125350"/>
          </a:xfrm>
          <a:prstGeom prst="rect">
            <a:avLst/>
          </a:prstGeom>
          <a:solidFill>
            <a:srgbClr val="E3DAC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" name="Text 11"/>
          <p:cNvSpPr txBox="1"/>
          <p:nvPr/>
        </p:nvSpPr>
        <p:spPr>
          <a:xfrm>
            <a:off x="810298" y="5264421"/>
            <a:ext cx="7323607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ts val="2200"/>
              </a:lnSpc>
            </a:pPr>
            <a:r>
              <a:rPr lang="en-HK" sz="1600" b="0" dirty="0">
                <a:solidFill>
                  <a:srgbClr val="141414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The solution: </a:t>
            </a:r>
            <a:r>
              <a:rPr b="1" dirty="0">
                <a:solidFill>
                  <a:srgbClr val="9B2C2C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bridg</a:t>
            </a:r>
            <a:r>
              <a:rPr lang="en-US" b="1" dirty="0">
                <a:solidFill>
                  <a:srgbClr val="9B2C2C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ing</a:t>
            </a:r>
            <a:r>
              <a:rPr b="1" dirty="0">
                <a:solidFill>
                  <a:srgbClr val="9B2C2C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 the trust gap</a:t>
            </a:r>
            <a:r>
              <a:rPr lang="en-US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HK" sz="1600" b="0" dirty="0">
                <a:solidFill>
                  <a:srgbClr val="141414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by an</a:t>
            </a:r>
            <a:r>
              <a:rPr sz="1600" b="0" dirty="0">
                <a:solidFill>
                  <a:srgbClr val="141414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 AI</a:t>
            </a:r>
            <a:r>
              <a:rPr lang="en-US" sz="1600" b="0" dirty="0">
                <a:solidFill>
                  <a:srgbClr val="141414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 agent grounded</a:t>
            </a:r>
            <a:r>
              <a:rPr sz="1600" b="0" dirty="0">
                <a:solidFill>
                  <a:srgbClr val="141414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 with credible information and robust agentic tools</a:t>
            </a:r>
            <a:r>
              <a:rPr lang="en-US" sz="1600" b="0" dirty="0">
                <a:solidFill>
                  <a:srgbClr val="141414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.</a:t>
            </a:r>
            <a:br>
              <a:rPr lang="en-US" sz="1600" b="0" dirty="0">
                <a:solidFill>
                  <a:srgbClr val="141414"/>
                </a:solidFill>
                <a:latin typeface="Calibri" panose="020F0502020204030204" pitchFamily="34" charset="0"/>
                <a:cs typeface="Calibri" panose="020F0502020204030204" pitchFamily="34" charset="0"/>
              </a:rPr>
            </a:br>
            <a:r>
              <a:rPr lang="en-HK" sz="1600" dirty="0">
                <a:solidFill>
                  <a:srgbClr val="141414"/>
                </a:solidFill>
                <a:latin typeface="Cambria"/>
              </a:rPr>
              <a:t>→</a:t>
            </a:r>
            <a:r>
              <a:rPr sz="1600" b="0" dirty="0">
                <a:solidFill>
                  <a:srgbClr val="141414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  </a:t>
            </a:r>
            <a:r>
              <a:rPr lang="en-US" b="1" dirty="0">
                <a:solidFill>
                  <a:srgbClr val="141414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This</a:t>
            </a:r>
            <a:r>
              <a:rPr b="1" dirty="0">
                <a:solidFill>
                  <a:srgbClr val="141414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 CRE AI Agent System</a:t>
            </a:r>
            <a:endParaRPr lang="en-US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16" name="Picture 15" descr="During Covid, people leaving London chose non-urban areas over big cities |  Centre for Cities">
            <a:extLst>
              <a:ext uri="{FF2B5EF4-FFF2-40B4-BE49-F238E27FC236}">
                <a16:creationId xmlns:a16="http://schemas.microsoft.com/office/drawing/2014/main" id="{D2CF25E7-9D02-C30B-2D65-01D27FC231F5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r="31989" b="18018"/>
          <a:stretch>
            <a:fillRect/>
          </a:stretch>
        </p:blipFill>
        <p:spPr>
          <a:xfrm>
            <a:off x="9126993" y="1739788"/>
            <a:ext cx="2669475" cy="1684019"/>
          </a:xfrm>
          <a:prstGeom prst="rect">
            <a:avLst/>
          </a:prstGeom>
        </p:spPr>
      </p:pic>
      <p:sp>
        <p:nvSpPr>
          <p:cNvPr id="12" name="Shape 6">
            <a:extLst>
              <a:ext uri="{FF2B5EF4-FFF2-40B4-BE49-F238E27FC236}">
                <a16:creationId xmlns:a16="http://schemas.microsoft.com/office/drawing/2014/main" id="{1C4281EC-4683-CA50-887A-6763F89DED4F}"/>
              </a:ext>
            </a:extLst>
          </p:cNvPr>
          <p:cNvSpPr/>
          <p:nvPr/>
        </p:nvSpPr>
        <p:spPr>
          <a:xfrm>
            <a:off x="4232125" y="4631436"/>
            <a:ext cx="212975" cy="329184"/>
          </a:xfrm>
          <a:prstGeom prst="downArrow">
            <a:avLst/>
          </a:prstGeom>
          <a:solidFill>
            <a:srgbClr val="9B2C2C"/>
          </a:solidFill>
          <a:ln/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6F2E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20624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b="1" kern="0" spc="200" dirty="0">
                <a:solidFill>
                  <a:srgbClr val="9B2C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SOLUTION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91153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400" b="1" dirty="0">
                <a:solidFill>
                  <a:srgbClr val="14141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Rapid, Reliable, and Relevant AI Agent</a:t>
            </a:r>
            <a:endParaRPr lang="en-US" sz="34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0585590"/>
              </p:ext>
            </p:extLst>
          </p:nvPr>
        </p:nvGraphicFramePr>
        <p:xfrm>
          <a:off x="640080" y="1783080"/>
          <a:ext cx="10908792" cy="3913632"/>
        </p:xfrm>
        <a:graphic>
          <a:graphicData uri="http://schemas.openxmlformats.org/drawingml/2006/table">
            <a:tbl>
              <a:tblPr/>
              <a:tblGrid>
                <a:gridCol w="261518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91693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68833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688336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62179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177800" marB="177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C6BDA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2E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b="1" dirty="0">
                          <a:solidFill>
                            <a:srgbClr val="F7F4E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This system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marL="0" indent="0" algn="ctr">
                        <a:buNone/>
                      </a:pPr>
                      <a:r>
                        <a:rPr lang="en-US" sz="1050" i="1" dirty="0">
                          <a:solidFill>
                            <a:srgbClr val="BDB6A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Deterministic spine, agentic edges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101600" marB="1016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C6BDA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6BDA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41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b="1" dirty="0">
                          <a:solidFill>
                            <a:srgbClr val="F7F4E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Published research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marL="0" indent="0" algn="ctr">
                        <a:buNone/>
                      </a:pPr>
                      <a:r>
                        <a:rPr lang="en-US" sz="1050" i="1" dirty="0">
                          <a:solidFill>
                            <a:srgbClr val="BDB6A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Savills · CBRE · CoStar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101600" marB="1016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C6BDA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6BDA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41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b="1" dirty="0">
                          <a:solidFill>
                            <a:srgbClr val="F7F4E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General-purpose AI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marL="0" indent="0" algn="ctr">
                        <a:buNone/>
                      </a:pPr>
                      <a:r>
                        <a:rPr lang="en-US" sz="1050" i="1" dirty="0">
                          <a:solidFill>
                            <a:srgbClr val="BDB6A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ChatGPT · Gemini · Claude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101600" marB="1016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C6BDA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6BDA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41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8229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b="1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Efficiency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177800" marB="177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C6BDA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6BDA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2E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b="1" dirty="0">
                          <a:solidFill>
                            <a:srgbClr val="3C64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High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5C564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Insight from credible sources in seconds</a:t>
                      </a:r>
                      <a:endParaRPr lang="en-US" sz="1200" b="1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177800" marB="177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C6BDA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6BDA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DAC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600" b="1" dirty="0">
                          <a:solidFill>
                            <a:srgbClr val="8A5E1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Low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5C564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You consolidate and analyse it yourself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177800" marB="177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C6BDA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6BDA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600" b="1" dirty="0">
                          <a:solidFill>
                            <a:srgbClr val="8A5E1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Low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5C564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You verify everything before you use it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177800" marB="177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C6BDA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6BDA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8229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b="1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Know your portfolio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177800" marB="177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C6BDA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6BDA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2E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b="1" dirty="0">
                          <a:solidFill>
                            <a:srgbClr val="3C64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5C564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Analysis matched to your holdings</a:t>
                      </a:r>
                      <a:endParaRPr lang="en-US" sz="1200" b="1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177800" marB="177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C6BDA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6BDA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DAC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600" b="1" dirty="0">
                          <a:solidFill>
                            <a:srgbClr val="9B2C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5C564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Market-wide data only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177800" marB="177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C6BDA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6BDA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600" b="1" dirty="0">
                          <a:solidFill>
                            <a:srgbClr val="9B2C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5C564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Only what you paste in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177800" marB="177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C6BDA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6BDA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8229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b="1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Credibility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177800" marB="177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C6BDA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6BDA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2E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b="1" dirty="0">
                          <a:solidFill>
                            <a:srgbClr val="3C64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High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5C564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Named sources: Savills, VOA, EPC register</a:t>
                      </a:r>
                      <a:endParaRPr lang="en-US" sz="1200" b="1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177800" marB="177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C6BDA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6BDA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DAC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600" b="1" dirty="0">
                          <a:solidFill>
                            <a:srgbClr val="3C64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High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5C564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Enterprise research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177800" marB="177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C6BDA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6BDA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600" b="1" dirty="0">
                          <a:solidFill>
                            <a:srgbClr val="8A5E1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Low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5C564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Fragmented internet data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177800" marB="177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C6BDA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6BDA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8229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b="1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Strategic insight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177800" marB="177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C6BDA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6BDA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2E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b="1" dirty="0">
                          <a:solidFill>
                            <a:srgbClr val="3C64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High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5C564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Specific to the buildings you hold</a:t>
                      </a:r>
                      <a:endParaRPr lang="en-US" sz="1200" b="1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177800" marB="177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C6BDA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6BDA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DAC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600" b="1" dirty="0">
                          <a:solidFill>
                            <a:srgbClr val="9B2C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5C564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You do your own research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177800" marB="177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C6BDA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6BDA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600" b="1" dirty="0">
                          <a:solidFill>
                            <a:srgbClr val="8A5E1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Low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5C564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Generic advice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177800" marB="177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C6BDA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6BDA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ED688AF7-3B80-6B7D-3E9F-AF9629CFA653}"/>
              </a:ext>
            </a:extLst>
          </p:cNvPr>
          <p:cNvSpPr txBox="1"/>
          <p:nvPr/>
        </p:nvSpPr>
        <p:spPr>
          <a:xfrm>
            <a:off x="5712639" y="1906117"/>
            <a:ext cx="76367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vs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690B5A6-A072-6343-2006-790C3D2EFC09}"/>
              </a:ext>
            </a:extLst>
          </p:cNvPr>
          <p:cNvSpPr txBox="1"/>
          <p:nvPr/>
        </p:nvSpPr>
        <p:spPr>
          <a:xfrm>
            <a:off x="8530271" y="1906117"/>
            <a:ext cx="76367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vs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6F2E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20624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b="1" kern="0" spc="200" dirty="0">
                <a:solidFill>
                  <a:srgbClr val="9B2C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  ·  SUBMARKET DYNAMICS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91153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200" b="1" dirty="0">
                <a:solidFill>
                  <a:srgbClr val="14141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Is The Bailey priced right against its peers?</a:t>
            </a:r>
            <a:endParaRPr lang="en-US" sz="3200" dirty="0"/>
          </a:p>
        </p:txBody>
      </p:sp>
      <p:pic>
        <p:nvPicPr>
          <p:cNvPr id="5" name="Image 0" descr="/Users/ethanlee/Desktop/projects/cre_market_agent/slides/assets/demo-bailey-peer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42758" y="1453896"/>
            <a:ext cx="4250561" cy="4882896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640080" y="1700784"/>
            <a:ext cx="6842455" cy="667512"/>
          </a:xfrm>
          <a:prstGeom prst="rect">
            <a:avLst/>
          </a:prstGeom>
          <a:solidFill>
            <a:srgbClr val="EDE7D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Text 5"/>
          <p:cNvSpPr txBox="1"/>
          <p:nvPr/>
        </p:nvSpPr>
        <p:spPr>
          <a:xfrm>
            <a:off x="868679" y="1803348"/>
            <a:ext cx="6385255" cy="4643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350" i="1" dirty="0">
                <a:solidFill>
                  <a:srgbClr val="14141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“Compare valuation of The Bailey in London with similar age buildings +- 5 year, output into a concise table.”</a:t>
            </a:r>
            <a:endParaRPr lang="en-US" sz="1350" dirty="0"/>
          </a:p>
        </p:txBody>
      </p:sp>
      <p:sp>
        <p:nvSpPr>
          <p:cNvPr id="9" name="Text 6"/>
          <p:cNvSpPr txBox="1"/>
          <p:nvPr/>
        </p:nvSpPr>
        <p:spPr>
          <a:xfrm>
            <a:off x="640080" y="2651760"/>
            <a:ext cx="684245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b="1" kern="0" spc="160" dirty="0">
                <a:solidFill>
                  <a:srgbClr val="5C56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RELIABLE PRICING ANALYSIS IN SECONDS</a:t>
            </a:r>
            <a:endParaRPr lang="en-US" sz="1100" dirty="0"/>
          </a:p>
        </p:txBody>
      </p:sp>
      <p:sp>
        <p:nvSpPr>
          <p:cNvPr id="10" name="Text 7"/>
          <p:cNvSpPr txBox="1"/>
          <p:nvPr/>
        </p:nvSpPr>
        <p:spPr>
          <a:xfrm>
            <a:off x="640080" y="291693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100" b="1" dirty="0">
                <a:solidFill>
                  <a:srgbClr val="9B2C2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100" dirty="0"/>
          </a:p>
        </p:txBody>
      </p:sp>
      <p:sp>
        <p:nvSpPr>
          <p:cNvPr id="11" name="Text 8"/>
          <p:cNvSpPr txBox="1"/>
          <p:nvPr/>
        </p:nvSpPr>
        <p:spPr>
          <a:xfrm>
            <a:off x="1024128" y="2962656"/>
            <a:ext cx="645840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1414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Recalled what you own.</a:t>
            </a:r>
            <a:endParaRPr lang="en-US" sz="1400" dirty="0"/>
          </a:p>
        </p:txBody>
      </p:sp>
      <p:sp>
        <p:nvSpPr>
          <p:cNvPr id="12" name="Text 9"/>
          <p:cNvSpPr txBox="1"/>
          <p:nvPr/>
        </p:nvSpPr>
        <p:spPr>
          <a:xfrm>
            <a:off x="1024128" y="3255264"/>
            <a:ext cx="6458407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just">
              <a:lnSpc>
                <a:spcPts val="1550"/>
              </a:lnSpc>
              <a:buNone/>
            </a:pPr>
            <a:r>
              <a:rPr lang="en-US" sz="1200" dirty="0">
                <a:solidFill>
                  <a:srgbClr val="1414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agent opened the portfolio first, found </a:t>
            </a:r>
            <a:r>
              <a:rPr lang="en-US" sz="1200" b="1" dirty="0">
                <a:solidFill>
                  <a:srgbClr val="1414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Bailey among your five London holdings</a:t>
            </a:r>
            <a:r>
              <a:rPr lang="en-US" sz="1200" dirty="0">
                <a:solidFill>
                  <a:srgbClr val="1414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and took its 1999 completion and City Core address from there.</a:t>
            </a:r>
            <a:endParaRPr lang="en-US" sz="1200" dirty="0"/>
          </a:p>
        </p:txBody>
      </p:sp>
      <p:sp>
        <p:nvSpPr>
          <p:cNvPr id="14" name="Text 11"/>
          <p:cNvSpPr txBox="1"/>
          <p:nvPr/>
        </p:nvSpPr>
        <p:spPr>
          <a:xfrm>
            <a:off x="640080" y="40507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100" b="1" dirty="0">
                <a:solidFill>
                  <a:srgbClr val="9B2C2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100" dirty="0"/>
          </a:p>
        </p:txBody>
      </p:sp>
      <p:sp>
        <p:nvSpPr>
          <p:cNvPr id="15" name="Text 12"/>
          <p:cNvSpPr txBox="1"/>
          <p:nvPr/>
        </p:nvSpPr>
        <p:spPr>
          <a:xfrm>
            <a:off x="1024128" y="4096512"/>
            <a:ext cx="645840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1414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Picked comparable buildings, then measured the gap.</a:t>
            </a:r>
            <a:endParaRPr lang="en-US" sz="1400" dirty="0"/>
          </a:p>
        </p:txBody>
      </p:sp>
      <p:sp>
        <p:nvSpPr>
          <p:cNvPr id="16" name="Text 13"/>
          <p:cNvSpPr txBox="1"/>
          <p:nvPr/>
        </p:nvSpPr>
        <p:spPr>
          <a:xfrm>
            <a:off x="1024128" y="4389120"/>
            <a:ext cx="6458407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just">
              <a:lnSpc>
                <a:spcPts val="1550"/>
              </a:lnSpc>
              <a:buNone/>
            </a:pPr>
            <a:r>
              <a:rPr lang="en-US" sz="1200" dirty="0">
                <a:solidFill>
                  <a:srgbClr val="1414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pulled every City Core building in the </a:t>
            </a:r>
            <a:r>
              <a:rPr lang="en-US" sz="1200" b="1" dirty="0">
                <a:solidFill>
                  <a:srgbClr val="1414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VOA rating</a:t>
            </a:r>
            <a:r>
              <a:rPr lang="en-US" sz="1200" dirty="0">
                <a:solidFill>
                  <a:srgbClr val="1414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b="1" dirty="0">
                <a:solidFill>
                  <a:srgbClr val="1414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</a:t>
            </a:r>
            <a:r>
              <a:rPr lang="en-US" sz="1200" dirty="0">
                <a:solidFill>
                  <a:srgbClr val="1414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kept the ones completed within five years of The Bailey as you asked, and computed the median and the gap.</a:t>
            </a:r>
            <a:endParaRPr lang="en-US" sz="1200" dirty="0"/>
          </a:p>
        </p:txBody>
      </p:sp>
      <p:sp>
        <p:nvSpPr>
          <p:cNvPr id="18" name="Text 15"/>
          <p:cNvSpPr txBox="1"/>
          <p:nvPr/>
        </p:nvSpPr>
        <p:spPr>
          <a:xfrm>
            <a:off x="640080" y="51846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100" b="1" dirty="0">
                <a:solidFill>
                  <a:srgbClr val="9B2C2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100" dirty="0"/>
          </a:p>
        </p:txBody>
      </p:sp>
      <p:sp>
        <p:nvSpPr>
          <p:cNvPr id="19" name="Text 16"/>
          <p:cNvSpPr txBox="1"/>
          <p:nvPr/>
        </p:nvSpPr>
        <p:spPr>
          <a:xfrm>
            <a:off x="1024128" y="5230368"/>
            <a:ext cx="645840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1414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Turned findings into strategy.</a:t>
            </a:r>
            <a:endParaRPr lang="en-US" sz="1400" dirty="0"/>
          </a:p>
        </p:txBody>
      </p:sp>
      <p:sp>
        <p:nvSpPr>
          <p:cNvPr id="20" name="Text 17"/>
          <p:cNvSpPr txBox="1"/>
          <p:nvPr/>
        </p:nvSpPr>
        <p:spPr>
          <a:xfrm>
            <a:off x="1024128" y="5522976"/>
            <a:ext cx="6458407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just"/>
            <a:r>
              <a:rPr lang="en-HK" sz="1200" dirty="0"/>
              <a:t>The Bailey sits above its peer group, which is </a:t>
            </a:r>
            <a:r>
              <a:rPr lang="en-HK" sz="1200" b="1" dirty="0"/>
              <a:t>exposure at the next rent review</a:t>
            </a:r>
            <a:r>
              <a:rPr lang="en-HK" sz="1200" dirty="0"/>
              <a:t>.</a:t>
            </a:r>
            <a:endParaRPr lang="en-US" sz="1150" dirty="0"/>
          </a:p>
        </p:txBody>
      </p:sp>
      <p:sp>
        <p:nvSpPr>
          <p:cNvPr id="31" name="Chip 31"/>
          <p:cNvSpPr/>
          <p:nvPr/>
        </p:nvSpPr>
        <p:spPr>
          <a:xfrm>
            <a:off x="2067734" y="3753612"/>
            <a:ext cx="1383625" cy="182880"/>
          </a:xfrm>
          <a:prstGeom prst="roundRect">
            <a:avLst>
              <a:gd name="adj" fmla="val 30000"/>
            </a:avLst>
          </a:prstGeom>
          <a:solidFill>
            <a:srgbClr val="E3DAC5"/>
          </a:solidFill>
          <a:ln>
            <a:noFill/>
          </a:ln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800" b="1" kern="0" spc="100" dirty="0">
                <a:solidFill>
                  <a:srgbClr val="3C6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KNOW YOUR PORTFOLIO</a:t>
            </a:r>
            <a:endParaRPr lang="en-US" sz="800" dirty="0"/>
          </a:p>
        </p:txBody>
      </p:sp>
      <p:sp>
        <p:nvSpPr>
          <p:cNvPr id="32" name="Chip 32"/>
          <p:cNvSpPr/>
          <p:nvPr/>
        </p:nvSpPr>
        <p:spPr>
          <a:xfrm>
            <a:off x="1024128" y="4937760"/>
            <a:ext cx="909582" cy="182880"/>
          </a:xfrm>
          <a:prstGeom prst="roundRect">
            <a:avLst>
              <a:gd name="adj" fmla="val 30000"/>
            </a:avLst>
          </a:prstGeom>
          <a:solidFill>
            <a:srgbClr val="E3DAC5"/>
          </a:solidFill>
          <a:ln>
            <a:noFill/>
          </a:ln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800" b="1" kern="0" spc="100" dirty="0">
                <a:solidFill>
                  <a:srgbClr val="3C6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CREDIBILITY</a:t>
            </a:r>
            <a:endParaRPr lang="en-US" sz="800" dirty="0"/>
          </a:p>
        </p:txBody>
      </p:sp>
      <p:sp>
        <p:nvSpPr>
          <p:cNvPr id="33" name="Chip 33"/>
          <p:cNvSpPr/>
          <p:nvPr/>
        </p:nvSpPr>
        <p:spPr>
          <a:xfrm>
            <a:off x="1024128" y="5833872"/>
            <a:ext cx="1279655" cy="182880"/>
          </a:xfrm>
          <a:prstGeom prst="roundRect">
            <a:avLst>
              <a:gd name="adj" fmla="val 30000"/>
            </a:avLst>
          </a:prstGeom>
          <a:solidFill>
            <a:srgbClr val="E3DAC5"/>
          </a:solidFill>
          <a:ln>
            <a:noFill/>
          </a:ln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800" b="1" kern="0" spc="100" dirty="0">
                <a:solidFill>
                  <a:srgbClr val="3C6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STRATEGIC INSIGHT</a:t>
            </a:r>
            <a:endParaRPr lang="en-US" sz="800" dirty="0"/>
          </a:p>
        </p:txBody>
      </p:sp>
      <p:sp>
        <p:nvSpPr>
          <p:cNvPr id="4" name="Chip 32">
            <a:extLst>
              <a:ext uri="{FF2B5EF4-FFF2-40B4-BE49-F238E27FC236}">
                <a16:creationId xmlns:a16="http://schemas.microsoft.com/office/drawing/2014/main" id="{08A1CF7C-41C8-2780-AA30-B74B6534241A}"/>
              </a:ext>
            </a:extLst>
          </p:cNvPr>
          <p:cNvSpPr/>
          <p:nvPr/>
        </p:nvSpPr>
        <p:spPr>
          <a:xfrm>
            <a:off x="1024128" y="3753612"/>
            <a:ext cx="909582" cy="182880"/>
          </a:xfrm>
          <a:prstGeom prst="roundRect">
            <a:avLst>
              <a:gd name="adj" fmla="val 30000"/>
            </a:avLst>
          </a:prstGeom>
          <a:solidFill>
            <a:srgbClr val="E3DAC5"/>
          </a:solidFill>
          <a:ln>
            <a:noFill/>
          </a:ln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800" b="1" kern="0" spc="100" dirty="0">
                <a:solidFill>
                  <a:srgbClr val="3C6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EFFICIENCY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6F2E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20624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b="1" kern="0" spc="200" dirty="0">
                <a:solidFill>
                  <a:srgbClr val="9B2C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  ·  OCCUPIER DEMAND DRIVERS</a:t>
            </a:r>
            <a:endParaRPr lang="en-US" sz="16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91153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200" b="1" dirty="0">
                <a:solidFill>
                  <a:srgbClr val="14141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What’s driving demand right now?</a:t>
            </a:r>
            <a:endParaRPr lang="en-US" sz="3200" dirty="0"/>
          </a:p>
        </p:txBody>
      </p:sp>
      <p:pic>
        <p:nvPicPr>
          <p:cNvPr id="5" name="Image 0" descr="/Users/ethanlee/Desktop/projects/cre_market_agent/slides/assets/demo-demand-driver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19816" y="1563278"/>
            <a:ext cx="4892040" cy="4024052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640080" y="1645920"/>
            <a:ext cx="556229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b="1" kern="0" spc="160" dirty="0">
                <a:solidFill>
                  <a:srgbClr val="5C564C"/>
                </a:solidFill>
                <a:latin typeface="Calibri" pitchFamily="34" charset="0"/>
                <a:cs typeface="Calibri" pitchFamily="34" charset="-120"/>
              </a:rPr>
              <a:t>RELIABLE DEMAND ANALYSIS IN SECONDS</a:t>
            </a:r>
            <a:endParaRPr lang="en-US" sz="1100" dirty="0"/>
          </a:p>
        </p:txBody>
      </p:sp>
      <p:sp>
        <p:nvSpPr>
          <p:cNvPr id="7" name="Text 4"/>
          <p:cNvSpPr txBox="1"/>
          <p:nvPr/>
        </p:nvSpPr>
        <p:spPr>
          <a:xfrm>
            <a:off x="640080" y="191109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100" b="1" dirty="0">
                <a:solidFill>
                  <a:srgbClr val="9B2C2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100" dirty="0"/>
          </a:p>
        </p:txBody>
      </p:sp>
      <p:sp>
        <p:nvSpPr>
          <p:cNvPr id="8" name="Text 5"/>
          <p:cNvSpPr txBox="1"/>
          <p:nvPr/>
        </p:nvSpPr>
        <p:spPr>
          <a:xfrm>
            <a:off x="1024128" y="1956816"/>
            <a:ext cx="517824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1414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Resolved what you mean.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1024128" y="2249424"/>
            <a:ext cx="5178247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just"/>
            <a:r>
              <a:rPr lang="en-HK" sz="1200" dirty="0"/>
              <a:t>It checked what figures exist on database, then scoped every lookup to Central London at the latest published half.</a:t>
            </a:r>
            <a:endParaRPr lang="en-US" sz="1150" dirty="0"/>
          </a:p>
        </p:txBody>
      </p:sp>
      <p:sp>
        <p:nvSpPr>
          <p:cNvPr id="11" name="Text 8"/>
          <p:cNvSpPr txBox="1"/>
          <p:nvPr/>
        </p:nvSpPr>
        <p:spPr>
          <a:xfrm>
            <a:off x="640080" y="291693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100" b="1" dirty="0">
                <a:solidFill>
                  <a:srgbClr val="9B2C2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100" dirty="0"/>
          </a:p>
        </p:txBody>
      </p:sp>
      <p:sp>
        <p:nvSpPr>
          <p:cNvPr id="12" name="Text 9"/>
          <p:cNvSpPr txBox="1"/>
          <p:nvPr/>
        </p:nvSpPr>
        <p:spPr>
          <a:xfrm>
            <a:off x="1024128" y="2962656"/>
            <a:ext cx="517824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1414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Pulled six figures, and the deals behind them.</a:t>
            </a:r>
            <a:endParaRPr lang="en-US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1024128" y="3255264"/>
            <a:ext cx="5178247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just"/>
            <a:r>
              <a:rPr lang="en-HK" sz="1200" dirty="0"/>
              <a:t>Active demand, take-up, the share of occupiers expanding, large requirements, space under offer, one sector's take-up, and the named lettings. </a:t>
            </a:r>
            <a:r>
              <a:rPr lang="en-HK" sz="1200" b="1" dirty="0"/>
              <a:t>Each with its source and its date</a:t>
            </a:r>
            <a:r>
              <a:rPr lang="en-HK" sz="1200" dirty="0"/>
              <a:t>.</a:t>
            </a:r>
            <a:endParaRPr lang="en-US" sz="1200" dirty="0"/>
          </a:p>
        </p:txBody>
      </p:sp>
      <p:sp>
        <p:nvSpPr>
          <p:cNvPr id="15" name="Text 12"/>
          <p:cNvSpPr txBox="1"/>
          <p:nvPr/>
        </p:nvSpPr>
        <p:spPr>
          <a:xfrm>
            <a:off x="640080" y="410565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100" b="1" dirty="0">
                <a:solidFill>
                  <a:srgbClr val="9B2C2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100" dirty="0"/>
          </a:p>
        </p:txBody>
      </p:sp>
      <p:sp>
        <p:nvSpPr>
          <p:cNvPr id="16" name="Text 13"/>
          <p:cNvSpPr txBox="1"/>
          <p:nvPr/>
        </p:nvSpPr>
        <p:spPr>
          <a:xfrm>
            <a:off x="1024128" y="4151376"/>
            <a:ext cx="517824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HK" sz="1400" b="1" dirty="0">
                <a:latin typeface="Calibri" panose="020F0502020204030204" pitchFamily="34" charset="0"/>
                <a:cs typeface="Calibri" panose="020F0502020204030204" pitchFamily="34" charset="0"/>
              </a:rPr>
              <a:t>Found a gap, and stayed with the source.</a:t>
            </a:r>
            <a:endParaRPr lang="en-US" sz="1400" b="1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7" name="Text 14"/>
          <p:cNvSpPr txBox="1"/>
          <p:nvPr/>
        </p:nvSpPr>
        <p:spPr>
          <a:xfrm>
            <a:off x="1024128" y="4443984"/>
            <a:ext cx="5178247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just">
              <a:lnSpc>
                <a:spcPts val="1550"/>
              </a:lnSpc>
              <a:buNone/>
            </a:pPr>
            <a:r>
              <a:rPr lang="en-US" sz="1200" dirty="0">
                <a:solidFill>
                  <a:srgbClr val="1414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 &amp; Media take-up is </a:t>
            </a:r>
            <a:r>
              <a:rPr lang="en-US" sz="1200" b="1" dirty="0">
                <a:solidFill>
                  <a:srgbClr val="1414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published</a:t>
            </a:r>
            <a:r>
              <a:rPr lang="en-US" sz="1200" dirty="0">
                <a:solidFill>
                  <a:srgbClr val="1414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for this half. Instead of estimating one, it reported the change the source does give: 64% above the long-run average.</a:t>
            </a:r>
            <a:endParaRPr lang="en-US" sz="1200" dirty="0"/>
          </a:p>
        </p:txBody>
      </p:sp>
      <p:sp>
        <p:nvSpPr>
          <p:cNvPr id="19" name="Text 16"/>
          <p:cNvSpPr txBox="1"/>
          <p:nvPr/>
        </p:nvSpPr>
        <p:spPr>
          <a:xfrm>
            <a:off x="640080" y="511149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100" b="1" dirty="0">
                <a:solidFill>
                  <a:srgbClr val="9B2C2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2100" dirty="0"/>
          </a:p>
        </p:txBody>
      </p:sp>
      <p:sp>
        <p:nvSpPr>
          <p:cNvPr id="20" name="Text 17"/>
          <p:cNvSpPr txBox="1"/>
          <p:nvPr/>
        </p:nvSpPr>
        <p:spPr>
          <a:xfrm>
            <a:off x="1024128" y="5157216"/>
            <a:ext cx="517824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HK" sz="1400" b="1" dirty="0">
                <a:latin typeface="Calibri" panose="020F0502020204030204" pitchFamily="34" charset="0"/>
                <a:cs typeface="Calibri" panose="020F0502020204030204" pitchFamily="34" charset="0"/>
              </a:rPr>
              <a:t>Turned findings into strategy.</a:t>
            </a:r>
            <a:endParaRPr lang="en-US" sz="1400" b="1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21" name="Text 18"/>
          <p:cNvSpPr txBox="1"/>
          <p:nvPr/>
        </p:nvSpPr>
        <p:spPr>
          <a:xfrm>
            <a:off x="1024128" y="5449824"/>
            <a:ext cx="5178247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just">
              <a:lnSpc>
                <a:spcPts val="1550"/>
              </a:lnSpc>
              <a:buNone/>
            </a:pPr>
            <a:r>
              <a:rPr lang="en-US" sz="1200" dirty="0">
                <a:solidFill>
                  <a:srgbClr val="1414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response closes on 99 City Road and Regent Quarter, and on a decision, rather than on Central London in general.</a:t>
            </a:r>
            <a:endParaRPr lang="en-US" sz="1200" dirty="0"/>
          </a:p>
        </p:txBody>
      </p:sp>
      <p:sp>
        <p:nvSpPr>
          <p:cNvPr id="31" name="Chip 31"/>
          <p:cNvSpPr/>
          <p:nvPr/>
        </p:nvSpPr>
        <p:spPr>
          <a:xfrm>
            <a:off x="1024128" y="3874544"/>
            <a:ext cx="909582" cy="182880"/>
          </a:xfrm>
          <a:prstGeom prst="roundRect">
            <a:avLst>
              <a:gd name="adj" fmla="val 30000"/>
            </a:avLst>
          </a:prstGeom>
          <a:solidFill>
            <a:srgbClr val="E3DAC5"/>
          </a:solidFill>
          <a:ln>
            <a:noFill/>
          </a:ln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800" b="1" kern="0" spc="100" dirty="0">
                <a:solidFill>
                  <a:srgbClr val="3C6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CREDIBILITY</a:t>
            </a:r>
            <a:endParaRPr lang="en-US" sz="800" dirty="0"/>
          </a:p>
        </p:txBody>
      </p:sp>
      <p:sp>
        <p:nvSpPr>
          <p:cNvPr id="32" name="Chip 32"/>
          <p:cNvSpPr/>
          <p:nvPr/>
        </p:nvSpPr>
        <p:spPr>
          <a:xfrm>
            <a:off x="1024128" y="4893246"/>
            <a:ext cx="909582" cy="182880"/>
          </a:xfrm>
          <a:prstGeom prst="roundRect">
            <a:avLst>
              <a:gd name="adj" fmla="val 30000"/>
            </a:avLst>
          </a:prstGeom>
          <a:solidFill>
            <a:srgbClr val="E3DAC5"/>
          </a:solidFill>
          <a:ln>
            <a:noFill/>
          </a:ln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800" b="1" kern="0" spc="100" dirty="0">
                <a:solidFill>
                  <a:srgbClr val="3C6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CREDIBILITY</a:t>
            </a:r>
            <a:endParaRPr lang="en-US" sz="800" dirty="0"/>
          </a:p>
        </p:txBody>
      </p:sp>
      <p:sp>
        <p:nvSpPr>
          <p:cNvPr id="33" name="Chip 33"/>
          <p:cNvSpPr/>
          <p:nvPr/>
        </p:nvSpPr>
        <p:spPr>
          <a:xfrm>
            <a:off x="1024128" y="5934456"/>
            <a:ext cx="1383625" cy="182880"/>
          </a:xfrm>
          <a:prstGeom prst="roundRect">
            <a:avLst>
              <a:gd name="adj" fmla="val 30000"/>
            </a:avLst>
          </a:prstGeom>
          <a:solidFill>
            <a:srgbClr val="E3DAC5"/>
          </a:solidFill>
          <a:ln>
            <a:noFill/>
          </a:ln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800" b="1" kern="0" spc="100" dirty="0">
                <a:solidFill>
                  <a:srgbClr val="3C6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KNOW YOUR PORTFOLIO</a:t>
            </a:r>
            <a:endParaRPr lang="en-US" sz="800" dirty="0"/>
          </a:p>
        </p:txBody>
      </p:sp>
      <p:sp>
        <p:nvSpPr>
          <p:cNvPr id="34" name="Chip 34"/>
          <p:cNvSpPr/>
          <p:nvPr/>
        </p:nvSpPr>
        <p:spPr>
          <a:xfrm>
            <a:off x="2641745" y="5934858"/>
            <a:ext cx="1279655" cy="182880"/>
          </a:xfrm>
          <a:prstGeom prst="roundRect">
            <a:avLst>
              <a:gd name="adj" fmla="val 30000"/>
            </a:avLst>
          </a:prstGeom>
          <a:solidFill>
            <a:srgbClr val="E3DAC5"/>
          </a:solidFill>
          <a:ln>
            <a:noFill/>
          </a:ln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800" b="1" kern="0" spc="100" dirty="0">
                <a:solidFill>
                  <a:srgbClr val="3C6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STRATEGIC INSIGHT</a:t>
            </a:r>
            <a:endParaRPr lang="en-US" sz="800" dirty="0"/>
          </a:p>
        </p:txBody>
      </p:sp>
      <p:sp>
        <p:nvSpPr>
          <p:cNvPr id="4" name="Chip 32">
            <a:extLst>
              <a:ext uri="{FF2B5EF4-FFF2-40B4-BE49-F238E27FC236}">
                <a16:creationId xmlns:a16="http://schemas.microsoft.com/office/drawing/2014/main" id="{F121D964-8AA5-73BB-E18E-9BC7C2E28F24}"/>
              </a:ext>
            </a:extLst>
          </p:cNvPr>
          <p:cNvSpPr/>
          <p:nvPr/>
        </p:nvSpPr>
        <p:spPr>
          <a:xfrm>
            <a:off x="1005840" y="2706624"/>
            <a:ext cx="909582" cy="182880"/>
          </a:xfrm>
          <a:prstGeom prst="roundRect">
            <a:avLst>
              <a:gd name="adj" fmla="val 30000"/>
            </a:avLst>
          </a:prstGeom>
          <a:solidFill>
            <a:srgbClr val="E3DAC5"/>
          </a:solidFill>
          <a:ln>
            <a:noFill/>
          </a:ln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800" b="1" kern="0" spc="100" dirty="0">
                <a:solidFill>
                  <a:srgbClr val="3C6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EFFICIENCY</a:t>
            </a:r>
            <a:endParaRPr lang="en-US" sz="800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6DA93C62-4B6D-9D41-2494-B8C7EC3A118E}"/>
              </a:ext>
            </a:extLst>
          </p:cNvPr>
          <p:cNvSpPr txBox="1"/>
          <p:nvPr/>
        </p:nvSpPr>
        <p:spPr>
          <a:xfrm>
            <a:off x="5484069" y="6252710"/>
            <a:ext cx="143661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Cambria" panose="02040503050406030204" pitchFamily="18" charset="0"/>
                <a:cs typeface="Calibri" panose="020F0502020204030204" pitchFamily="34" charset="0"/>
              </a:rPr>
              <a:t>~THE END~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219</TotalTime>
  <Words>619</Words>
  <Application>Microsoft Macintosh PowerPoint</Application>
  <PresentationFormat>Widescreen</PresentationFormat>
  <Paragraphs>94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9" baseType="lpstr">
      <vt:lpstr>Arial</vt:lpstr>
      <vt:lpstr>Calibri</vt:lpstr>
      <vt:lpstr>Cambria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CRE AI Agent System</dc:title>
  <dc:subject>PptxGenJS Presentation</dc:subject>
  <dc:creator>London Office Market Monitor</dc:creator>
  <cp:lastModifiedBy>LEE, Sheung Chit Ethan</cp:lastModifiedBy>
  <cp:revision>121</cp:revision>
  <dcterms:created xsi:type="dcterms:W3CDTF">2026-08-30T04:39:16Z</dcterms:created>
  <dcterms:modified xsi:type="dcterms:W3CDTF">2026-08-30T15:44:42Z</dcterms:modified>
</cp:coreProperties>
</file>